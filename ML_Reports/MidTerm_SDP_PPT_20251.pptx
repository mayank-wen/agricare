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72" r:id="rId7"/>
    <p:sldId id="260" r:id="rId8"/>
    <p:sldId id="277" r:id="rId9"/>
    <p:sldId id="278" r:id="rId10"/>
    <p:sldId id="279" r:id="rId11"/>
    <p:sldId id="261" r:id="rId12"/>
    <p:sldId id="280" r:id="rId13"/>
    <p:sldId id="287" r:id="rId14"/>
    <p:sldId id="281" r:id="rId15"/>
    <p:sldId id="276" r:id="rId16"/>
    <p:sldId id="282" r:id="rId17"/>
    <p:sldId id="290" r:id="rId18"/>
    <p:sldId id="264" r:id="rId19"/>
    <p:sldId id="283" r:id="rId20"/>
    <p:sldId id="291" r:id="rId21"/>
    <p:sldId id="267" r:id="rId22"/>
    <p:sldId id="274" r:id="rId23"/>
    <p:sldId id="269" r:id="rId24"/>
    <p:sldId id="270" r:id="rId25"/>
  </p:sldIdLst>
  <p:sldSz cx="12192000" cy="6858000"/>
  <p:notesSz cx="6858000" cy="9144000"/>
  <p:embeddedFontLst>
    <p:embeddedFont>
      <p:font typeface="Calibri" panose="020F0502020204030204"/>
      <p:regular r:id="rId29"/>
    </p:embeddedFont>
    <p:embeddedFont>
      <p:font typeface="Calibri" panose="020F0502020204030204" pitchFamily="34" charset="0"/>
      <p:regular r:id="rId30"/>
      <p:bold r:id="rId31"/>
      <p:italic r:id="rId32"/>
      <p:boldItalic r:id="rId33"/>
    </p:embeddedFont>
    <p:embeddedFont>
      <p:font typeface="Gill Sans" panose="020B0502020104020203"/>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54" userDrawn="1">
          <p15:clr>
            <a:srgbClr val="000000"/>
          </p15:clr>
        </p15:guide>
        <p15:guide id="2" pos="3840"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4" d="100"/>
          <a:sy n="54" d="100"/>
        </p:scale>
        <p:origin x="102" y="1008"/>
      </p:cViewPr>
      <p:guideLst>
        <p:guide orient="horz" pos="215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95" name="Google Shape;9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3"/>
        <p:cNvGrpSpPr/>
        <p:nvPr/>
      </p:nvGrpSpPr>
      <p:grpSpPr>
        <a:xfrm>
          <a:off x="0" y="0"/>
          <a:ext cx="0" cy="0"/>
          <a:chOff x="0" y="0"/>
          <a:chExt cx="0" cy="0"/>
        </a:xfrm>
      </p:grpSpPr>
      <p:sp>
        <p:nvSpPr>
          <p:cNvPr id="114" name="Google Shape;11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5" name="Google Shape;11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Google Shape;12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2" name="Google Shape;12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2"/>
        <p:cNvGrpSpPr/>
        <p:nvPr/>
      </p:nvGrpSpPr>
      <p:grpSpPr>
        <a:xfrm>
          <a:off x="0" y="0"/>
          <a:ext cx="0" cy="0"/>
          <a:chOff x="0" y="0"/>
          <a:chExt cx="0" cy="0"/>
        </a:xfrm>
      </p:grpSpPr>
      <p:sp>
        <p:nvSpPr>
          <p:cNvPr id="143" name="Google Shape;14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highlight>
                <a:schemeClr val="lt1"/>
              </a:highlight>
              <a:latin typeface="Roboto" panose="02000000000000000000"/>
              <a:ea typeface="Roboto" panose="02000000000000000000"/>
              <a:cs typeface="Roboto" panose="02000000000000000000"/>
              <a:sym typeface="Roboto" panose="02000000000000000000"/>
            </a:endParaRPr>
          </a:p>
        </p:txBody>
      </p:sp>
      <p:sp>
        <p:nvSpPr>
          <p:cNvPr id="144" name="Google Shape;14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7" name="Google Shape;1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7" name="Google Shape;16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2" name="Google Shape;182;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Dept. of CS &amp; IT</a:t>
            </a:r>
            <a:endParaRPr lang="en-IN"/>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IN"/>
              <a:t>Dept. of CS &amp; IT</a:t>
            </a:r>
            <a:endParaRPr lang="en-IN"/>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p:nvPr/>
        </p:nvSpPr>
        <p:spPr>
          <a:xfrm>
            <a:off x="787185" y="3349942"/>
            <a:ext cx="5136543" cy="19056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Supervisor:</a:t>
            </a:r>
            <a:br>
              <a:rPr lang="en-US"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br>
            <a:r>
              <a:rPr lang="en-US" sz="2000" b="1" dirty="0">
                <a:solidFill>
                  <a:schemeClr val="dk1"/>
                </a:solidFill>
                <a:latin typeface="Calibri" panose="020F0502020204030204"/>
                <a:ea typeface="Calibri" panose="020F0502020204030204"/>
                <a:cs typeface="Calibri" panose="020F0502020204030204"/>
                <a:sym typeface="Calibri" panose="020F0502020204030204"/>
              </a:rPr>
              <a:t>Mrs. Sandhya Rani Sahoo</a:t>
            </a:r>
            <a:endParaRPr lang="en-US"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b="1" dirty="0">
                <a:solidFill>
                  <a:schemeClr val="dk1"/>
                </a:solidFill>
                <a:latin typeface="Calibri" panose="020F0502020204030204"/>
                <a:ea typeface="Calibri" panose="020F0502020204030204"/>
                <a:cs typeface="Calibri" panose="020F0502020204030204"/>
                <a:sym typeface="Calibri" panose="020F0502020204030204"/>
              </a:rPr>
              <a:t>Dept. of CS&amp;IT, ITER,</a:t>
            </a: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b="1" i="0" u="none" strike="noStrike" cap="none" dirty="0" err="1">
                <a:solidFill>
                  <a:schemeClr val="dk1"/>
                </a:solidFill>
                <a:latin typeface="Calibri" panose="020F0502020204030204"/>
                <a:ea typeface="Calibri" panose="020F0502020204030204"/>
                <a:cs typeface="Calibri" panose="020F0502020204030204"/>
                <a:sym typeface="Calibri" panose="020F0502020204030204"/>
              </a:rPr>
              <a:t>SoA</a:t>
            </a:r>
            <a:r>
              <a:rPr lang="en-US" sz="2000" b="1" dirty="0">
                <a:solidFill>
                  <a:schemeClr val="dk1"/>
                </a:solidFill>
                <a:latin typeface="Calibri" panose="020F0502020204030204"/>
                <a:ea typeface="Calibri" panose="020F0502020204030204"/>
                <a:cs typeface="Calibri" panose="020F0502020204030204"/>
                <a:sym typeface="Calibri" panose="020F0502020204030204"/>
              </a:rPr>
              <a:t> Deemed to be University.</a:t>
            </a:r>
            <a:endParaRPr lang="en-US"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b="0"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a:t>
            </a:r>
            <a:endParaRPr sz="2000"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dirty="0">
              <a:solidFill>
                <a:srgbClr val="9CC2E5"/>
              </a:solidFill>
              <a:latin typeface="Calibri" panose="020F0502020204030204"/>
              <a:ea typeface="Calibri" panose="020F0502020204030204"/>
              <a:cs typeface="Calibri" panose="020F0502020204030204"/>
              <a:sym typeface="Calibri" panose="020F0502020204030204"/>
            </a:endParaRPr>
          </a:p>
        </p:txBody>
      </p:sp>
      <p:sp>
        <p:nvSpPr>
          <p:cNvPr id="89" name="Google Shape;89;p13"/>
          <p:cNvSpPr/>
          <p:nvPr/>
        </p:nvSpPr>
        <p:spPr>
          <a:xfrm>
            <a:off x="675861" y="582705"/>
            <a:ext cx="10646562" cy="2016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dirty="0">
                <a:solidFill>
                  <a:schemeClr val="dk1"/>
                </a:solidFill>
                <a:latin typeface="Calibri" panose="020F0502020204030204"/>
                <a:ea typeface="Calibri" panose="020F0502020204030204"/>
                <a:cs typeface="Calibri" panose="020F0502020204030204"/>
                <a:sym typeface="Calibri" panose="020F0502020204030204"/>
              </a:rPr>
              <a:t>Senior Design Project </a:t>
            </a:r>
            <a:endParaRPr sz="3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3200" b="1" dirty="0">
                <a:solidFill>
                  <a:schemeClr val="dk1"/>
                </a:solidFill>
                <a:latin typeface="Calibri" panose="020F0502020204030204"/>
                <a:ea typeface="Calibri" panose="020F0502020204030204"/>
                <a:cs typeface="Calibri" panose="020F0502020204030204"/>
                <a:sym typeface="Calibri" panose="020F0502020204030204"/>
              </a:rPr>
              <a:t>Mid-Term Evaluation Presentation </a:t>
            </a:r>
            <a:endParaRPr sz="32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000" b="1" dirty="0">
                <a:solidFill>
                  <a:schemeClr val="dk1"/>
                </a:solidFill>
                <a:latin typeface="Calibri" panose="020F0502020204030204"/>
                <a:ea typeface="Calibri" panose="020F0502020204030204"/>
                <a:cs typeface="Calibri" panose="020F0502020204030204"/>
                <a:sym typeface="Calibri" panose="020F0502020204030204"/>
              </a:rPr>
              <a:t>on </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2800" b="1" i="1" dirty="0">
                <a:solidFill>
                  <a:srgbClr val="0070C0"/>
                </a:solidFill>
                <a:latin typeface="Calibri" panose="020F0502020204030204"/>
                <a:ea typeface="Calibri" panose="020F0502020204030204"/>
                <a:cs typeface="Calibri" panose="020F0502020204030204"/>
                <a:sym typeface="Calibri" panose="020F0502020204030204"/>
              </a:rPr>
              <a:t>title of project here</a:t>
            </a:r>
            <a:endParaRPr sz="2800" b="1" i="1" dirty="0">
              <a:solidFill>
                <a:srgbClr val="0070C0"/>
              </a:solidFill>
              <a:latin typeface="Calibri" panose="020F0502020204030204"/>
              <a:ea typeface="Calibri" panose="020F0502020204030204"/>
              <a:cs typeface="Calibri" panose="020F0502020204030204"/>
              <a:sym typeface="Calibri" panose="020F0502020204030204"/>
            </a:endParaRPr>
          </a:p>
        </p:txBody>
      </p:sp>
      <p:sp>
        <p:nvSpPr>
          <p:cNvPr id="90" name="Google Shape;90;p13"/>
          <p:cNvSpPr/>
          <p:nvPr/>
        </p:nvSpPr>
        <p:spPr>
          <a:xfrm>
            <a:off x="675861" y="5515910"/>
            <a:ext cx="10646562" cy="1210893"/>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Department of Computer Science &amp; Information Technology</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b="1">
                <a:solidFill>
                  <a:schemeClr val="dk1"/>
                </a:solidFill>
                <a:latin typeface="Calibri" panose="020F0502020204030204"/>
                <a:ea typeface="Calibri" panose="020F0502020204030204"/>
                <a:cs typeface="Calibri" panose="020F0502020204030204"/>
                <a:sym typeface="Calibri" panose="020F0502020204030204"/>
              </a:rPr>
              <a:t>Faculty of Engineering &amp; Technology(ITER),</a:t>
            </a:r>
            <a:endParaRPr sz="18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r>
              <a:rPr lang="en-US" sz="1800">
                <a:solidFill>
                  <a:schemeClr val="dk1"/>
                </a:solidFill>
                <a:latin typeface="Calibri" panose="020F0502020204030204"/>
                <a:ea typeface="Calibri" panose="020F0502020204030204"/>
                <a:cs typeface="Calibri" panose="020F0502020204030204"/>
                <a:sym typeface="Calibri" panose="020F0502020204030204"/>
              </a:rPr>
              <a:t>Siksha ‘O’ Anusandhan Deemed to be University, Bhubaneswar, Odisha</a:t>
            </a:r>
            <a:endParaRPr sz="180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ctr" rtl="0">
              <a:spcBef>
                <a:spcPts val="0"/>
              </a:spcBef>
              <a:spcAft>
                <a:spcPts val="0"/>
              </a:spcAft>
              <a:buNone/>
            </a:pPr>
            <a:endParaRPr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91" name="Google Shape;91;p13"/>
          <p:cNvSpPr txBox="1"/>
          <p:nvPr/>
        </p:nvSpPr>
        <p:spPr>
          <a:xfrm>
            <a:off x="5998907" y="3349942"/>
            <a:ext cx="5208105" cy="24904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Calibri" panose="020F0502020204030204"/>
                <a:ea typeface="Calibri" panose="020F0502020204030204"/>
                <a:cs typeface="Calibri" panose="020F0502020204030204"/>
                <a:sym typeface="Calibri" panose="020F0502020204030204"/>
              </a:rPr>
              <a:t>Presented by:</a:t>
            </a:r>
            <a:endParaRPr sz="2000" b="1" dirty="0">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dirty="0">
                <a:solidFill>
                  <a:srgbClr val="2D22C2"/>
                </a:solidFill>
                <a:latin typeface="Calibri" panose="020F0502020204030204"/>
                <a:ea typeface="Calibri" panose="020F0502020204030204"/>
                <a:cs typeface="Calibri" panose="020F0502020204030204"/>
                <a:sym typeface="Calibri" panose="020F0502020204030204"/>
              </a:rPr>
              <a:t>Mayank Kush (2141011185)</a:t>
            </a:r>
            <a:endParaRPr lang="en-US" sz="2000" dirty="0">
              <a:solidFill>
                <a:srgbClr val="2D22C2"/>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dirty="0">
                <a:solidFill>
                  <a:srgbClr val="2D22C2"/>
                </a:solidFill>
                <a:latin typeface="Calibri" panose="020F0502020204030204"/>
                <a:ea typeface="Calibri" panose="020F0502020204030204"/>
                <a:cs typeface="Calibri" panose="020F0502020204030204"/>
                <a:sym typeface="Calibri" panose="020F0502020204030204"/>
              </a:rPr>
              <a:t>Sagarika Kumari (2141011188)</a:t>
            </a:r>
            <a:endParaRPr lang="en-US" sz="2000" dirty="0">
              <a:solidFill>
                <a:srgbClr val="2D22C2"/>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dirty="0">
                <a:solidFill>
                  <a:srgbClr val="2D22C2"/>
                </a:solidFill>
                <a:latin typeface="Calibri" panose="020F0502020204030204"/>
                <a:ea typeface="Calibri" panose="020F0502020204030204"/>
                <a:cs typeface="Calibri" panose="020F0502020204030204"/>
                <a:sym typeface="Calibri" panose="020F0502020204030204"/>
              </a:rPr>
              <a:t>Aditi Raj (2141018143)</a:t>
            </a:r>
            <a:endParaRPr lang="en-US" sz="2000" dirty="0">
              <a:solidFill>
                <a:srgbClr val="2D22C2"/>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000" dirty="0">
                <a:solidFill>
                  <a:srgbClr val="2D22C2"/>
                </a:solidFill>
                <a:latin typeface="Calibri" panose="020F0502020204030204"/>
                <a:ea typeface="Calibri" panose="020F0502020204030204"/>
                <a:cs typeface="Calibri" panose="020F0502020204030204"/>
                <a:sym typeface="Calibri" panose="020F0502020204030204"/>
              </a:rPr>
              <a:t>Shivaansh Shekhar (2141019447)</a:t>
            </a:r>
            <a:endParaRPr lang="en-US" sz="2000" dirty="0">
              <a:solidFill>
                <a:srgbClr val="2D22C2"/>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2000" dirty="0">
              <a:solidFill>
                <a:srgbClr val="2D22C2"/>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1800" dirty="0">
                <a:solidFill>
                  <a:srgbClr val="2E75B5"/>
                </a:solidFill>
                <a:latin typeface="Calibri" panose="020F0502020204030204"/>
                <a:ea typeface="Calibri" panose="020F0502020204030204"/>
                <a:cs typeface="Calibri" panose="020F0502020204030204"/>
                <a:sym typeface="Calibri" panose="020F0502020204030204"/>
              </a:rPr>
              <a:t>  </a:t>
            </a:r>
            <a:endParaRPr sz="1800" dirty="0">
              <a:solidFill>
                <a:srgbClr val="2E75B5"/>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endParaRPr sz="1800" dirty="0">
              <a:solidFill>
                <a:srgbClr val="9CC2E5"/>
              </a:solidFill>
              <a:latin typeface="Calibri" panose="020F0502020204030204"/>
              <a:ea typeface="Calibri" panose="020F0502020204030204"/>
              <a:cs typeface="Calibri" panose="020F0502020204030204"/>
              <a:sym typeface="Calibri" panose="020F0502020204030204"/>
            </a:endParaRPr>
          </a:p>
        </p:txBody>
      </p:sp>
      <p:pic>
        <p:nvPicPr>
          <p:cNvPr id="92" name="Google Shape;92;p13"/>
          <p:cNvPicPr preferRelativeResize="0"/>
          <p:nvPr/>
        </p:nvPicPr>
        <p:blipFill rotWithShape="1">
          <a:blip r:embed="rId1"/>
          <a:srcRect/>
          <a:stretch>
            <a:fillRect/>
          </a:stretch>
        </p:blipFill>
        <p:spPr>
          <a:xfrm>
            <a:off x="787185" y="707752"/>
            <a:ext cx="1374107" cy="136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body" idx="1"/>
          </p:nvPr>
        </p:nvSpPr>
        <p:spPr>
          <a:xfrm>
            <a:off x="719137" y="1290918"/>
            <a:ext cx="10753725" cy="5430557"/>
          </a:xfrm>
          <a:prstGeom prst="rect">
            <a:avLst/>
          </a:prstGeom>
          <a:noFill/>
          <a:ln>
            <a:noFill/>
          </a:ln>
        </p:spPr>
        <p:txBody>
          <a:bodyPr spcFirstLastPara="1" wrap="square" lIns="91425" tIns="45700" rIns="91425" bIns="45700" anchor="t" anchorCtr="0">
            <a:normAutofit fontScale="40000" lnSpcReduction="20000"/>
          </a:bodyPr>
          <a:lstStyle/>
          <a:p>
            <a:pPr marL="365760" lvl="0" indent="-283210" algn="l" rtl="0">
              <a:lnSpc>
                <a:spcPct val="150000"/>
              </a:lnSpc>
              <a:spcBef>
                <a:spcPts val="0"/>
              </a:spcBef>
              <a:spcAft>
                <a:spcPts val="0"/>
              </a:spcAft>
              <a:buClr>
                <a:srgbClr val="3891A7"/>
              </a:buClr>
              <a:buSzPct val="80000"/>
              <a:buFont typeface="Noto Sans Symbols"/>
              <a:buChar char="▪"/>
            </a:pPr>
            <a:r>
              <a:rPr lang="en-US" sz="4900" b="1" strike="noStrike" dirty="0">
                <a:solidFill>
                  <a:srgbClr val="000000"/>
                </a:solidFill>
                <a:latin typeface="Times New Roman" panose="02020603050405020304" charset="0"/>
                <a:cs typeface="Times New Roman" panose="02020603050405020304" charset="0"/>
              </a:rPr>
              <a:t>Introduction</a:t>
            </a:r>
            <a:endParaRPr sz="4900" b="1" strike="noStrike" dirty="0">
              <a:solidFill>
                <a:srgbClr val="000000"/>
              </a:solidFill>
              <a:latin typeface="Times New Roman" panose="02020603050405020304" charset="0"/>
              <a:cs typeface="Times New Roman" panose="02020603050405020304" charset="0"/>
            </a:endParaRPr>
          </a:p>
          <a:p>
            <a:pPr marL="640080" lvl="1" indent="-237490" algn="l" rtl="0">
              <a:lnSpc>
                <a:spcPct val="150000"/>
              </a:lnSpc>
              <a:spcBef>
                <a:spcPts val="550"/>
              </a:spcBef>
              <a:spcAft>
                <a:spcPts val="0"/>
              </a:spcAft>
              <a:buClr>
                <a:srgbClr val="3891A7"/>
              </a:buClr>
              <a:buSzPct val="100000"/>
              <a:buFont typeface="Noto Sans Symbols"/>
              <a:buChar char="▪"/>
            </a:pPr>
            <a:r>
              <a:rPr lang="en-US" sz="4300" b="0" strike="noStrike" dirty="0">
                <a:solidFill>
                  <a:srgbClr val="000000"/>
                </a:solidFill>
                <a:latin typeface="Times New Roman" panose="02020603050405020304" charset="0"/>
                <a:cs typeface="Times New Roman" panose="02020603050405020304" charset="0"/>
              </a:rPr>
              <a:t>Overview/Specifications</a:t>
            </a:r>
            <a:endParaRPr sz="4300" b="0" strike="noStrike" dirty="0">
              <a:solidFill>
                <a:srgbClr val="000000"/>
              </a:solidFill>
              <a:latin typeface="Times New Roman" panose="02020603050405020304" charset="0"/>
              <a:cs typeface="Times New Roman" panose="02020603050405020304" charset="0"/>
            </a:endParaRPr>
          </a:p>
          <a:p>
            <a:pPr marL="640080" lvl="1" indent="-237490" algn="l" rtl="0">
              <a:lnSpc>
                <a:spcPct val="150000"/>
              </a:lnSpc>
              <a:spcBef>
                <a:spcPts val="550"/>
              </a:spcBef>
              <a:spcAft>
                <a:spcPts val="0"/>
              </a:spcAft>
              <a:buClr>
                <a:srgbClr val="3891A7"/>
              </a:buClr>
              <a:buSzPct val="100000"/>
              <a:buFont typeface="Noto Sans Symbols"/>
              <a:buChar char="▪"/>
            </a:pPr>
            <a:r>
              <a:rPr lang="en-US" sz="4300" b="0" strike="noStrike" dirty="0">
                <a:solidFill>
                  <a:srgbClr val="000000"/>
                </a:solidFill>
                <a:latin typeface="Times New Roman" panose="02020603050405020304" charset="0"/>
                <a:cs typeface="Times New Roman" panose="02020603050405020304" charset="0"/>
              </a:rPr>
              <a:t>Motivations</a:t>
            </a:r>
            <a:endParaRPr sz="4300" b="0" strike="noStrike"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strike="noStrike" dirty="0">
                <a:solidFill>
                  <a:srgbClr val="000000"/>
                </a:solidFill>
                <a:latin typeface="Times New Roman" panose="02020603050405020304" charset="0"/>
                <a:cs typeface="Times New Roman" panose="02020603050405020304" charset="0"/>
              </a:rPr>
              <a:t>Literature Review/Existing or Similar Product/Process/Algorithm</a:t>
            </a:r>
            <a:endParaRPr sz="4900" b="1" strike="noStrike" dirty="0">
              <a:solidFill>
                <a:srgbClr val="000000"/>
              </a:solidFill>
              <a:latin typeface="Times New Roman" panose="02020603050405020304" charset="0"/>
              <a:cs typeface="Times New Roman" panose="02020603050405020304" charset="0"/>
            </a:endParaRPr>
          </a:p>
          <a:p>
            <a:pPr marL="640080" lvl="1" indent="-237490" algn="l" rtl="0">
              <a:lnSpc>
                <a:spcPct val="150000"/>
              </a:lnSpc>
              <a:spcBef>
                <a:spcPts val="550"/>
              </a:spcBef>
              <a:spcAft>
                <a:spcPts val="0"/>
              </a:spcAft>
              <a:buClr>
                <a:srgbClr val="3891A7"/>
              </a:buClr>
              <a:buSzPct val="100000"/>
              <a:buFont typeface="Noto Sans Symbols"/>
              <a:buChar char="▪"/>
            </a:pPr>
            <a:r>
              <a:rPr lang="en-US" sz="4300" b="0" strike="noStrike" dirty="0">
                <a:solidFill>
                  <a:srgbClr val="000000"/>
                </a:solidFill>
                <a:latin typeface="Times New Roman" panose="02020603050405020304" charset="0"/>
                <a:cs typeface="Times New Roman" panose="02020603050405020304" charset="0"/>
              </a:rPr>
              <a:t>Existing System</a:t>
            </a:r>
            <a:endParaRPr sz="4300" b="0" strike="noStrike" dirty="0">
              <a:solidFill>
                <a:srgbClr val="000000"/>
              </a:solidFill>
              <a:latin typeface="Times New Roman" panose="02020603050405020304" charset="0"/>
              <a:cs typeface="Times New Roman" panose="02020603050405020304" charset="0"/>
            </a:endParaRPr>
          </a:p>
          <a:p>
            <a:pPr marL="640080" lvl="1" indent="-237490" algn="l" rtl="0">
              <a:lnSpc>
                <a:spcPct val="150000"/>
              </a:lnSpc>
              <a:spcBef>
                <a:spcPts val="550"/>
              </a:spcBef>
              <a:spcAft>
                <a:spcPts val="0"/>
              </a:spcAft>
              <a:buClr>
                <a:srgbClr val="3891A7"/>
              </a:buClr>
              <a:buSzPct val="100000"/>
              <a:buFont typeface="Noto Sans Symbols"/>
              <a:buChar char="▪"/>
            </a:pPr>
            <a:r>
              <a:rPr lang="en-US" sz="4300" b="0" strike="noStrike" dirty="0">
                <a:solidFill>
                  <a:srgbClr val="000000"/>
                </a:solidFill>
                <a:latin typeface="Times New Roman" panose="02020603050405020304" charset="0"/>
                <a:cs typeface="Times New Roman" panose="02020603050405020304" charset="0"/>
              </a:rPr>
              <a:t>Problem Identification</a:t>
            </a:r>
            <a:endParaRPr sz="4300" b="0" strike="noStrike" dirty="0">
              <a:solidFill>
                <a:srgbClr val="000000"/>
              </a:solidFill>
              <a:latin typeface="Times New Roman" panose="02020603050405020304" charset="0"/>
              <a:cs typeface="Times New Roman" panose="02020603050405020304" charset="0"/>
            </a:endParaRPr>
          </a:p>
          <a:p>
            <a:pPr marL="640080" lvl="1" indent="-237490" algn="l" rtl="0">
              <a:lnSpc>
                <a:spcPct val="150000"/>
              </a:lnSpc>
              <a:spcBef>
                <a:spcPts val="550"/>
              </a:spcBef>
              <a:spcAft>
                <a:spcPts val="0"/>
              </a:spcAft>
              <a:buClr>
                <a:srgbClr val="3891A7"/>
              </a:buClr>
              <a:buSzPct val="100000"/>
              <a:buFont typeface="Noto Sans Symbols"/>
              <a:buChar char="▪"/>
            </a:pPr>
            <a:r>
              <a:rPr lang="en-US" sz="4300" b="0" strike="noStrike" dirty="0">
                <a:solidFill>
                  <a:srgbClr val="000000"/>
                </a:solidFill>
                <a:latin typeface="Times New Roman" panose="02020603050405020304" charset="0"/>
                <a:cs typeface="Times New Roman" panose="02020603050405020304" charset="0"/>
              </a:rPr>
              <a:t>Dataset Description ( if applicable)</a:t>
            </a:r>
            <a:endParaRPr sz="4300" b="0" strike="noStrike"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dirty="0">
                <a:solidFill>
                  <a:srgbClr val="000000"/>
                </a:solidFill>
                <a:latin typeface="Times New Roman" panose="02020603050405020304" charset="0"/>
                <a:cs typeface="Times New Roman" panose="02020603050405020304" charset="0"/>
              </a:rPr>
              <a:t>Proposed Design of product/ Process/Algorithm/Software</a:t>
            </a:r>
            <a:endParaRPr lang="en-US" sz="4900" b="1"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dirty="0">
                <a:solidFill>
                  <a:srgbClr val="000000"/>
                </a:solidFill>
                <a:latin typeface="Times New Roman" panose="02020603050405020304" charset="0"/>
                <a:cs typeface="Times New Roman" panose="02020603050405020304" charset="0"/>
              </a:rPr>
              <a:t>Implementation of product/process/algorithm/software</a:t>
            </a:r>
            <a:endParaRPr lang="en-US" sz="4900" b="1"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strike="noStrike" dirty="0">
                <a:solidFill>
                  <a:srgbClr val="000000"/>
                </a:solidFill>
                <a:latin typeface="Times New Roman" panose="02020603050405020304" charset="0"/>
                <a:cs typeface="Times New Roman" panose="02020603050405020304" charset="0"/>
              </a:rPr>
              <a:t>Result</a:t>
            </a:r>
            <a:r>
              <a:rPr lang="en-US" sz="4900" b="1" dirty="0">
                <a:solidFill>
                  <a:srgbClr val="000000"/>
                </a:solidFill>
                <a:latin typeface="Times New Roman" panose="02020603050405020304" charset="0"/>
                <a:cs typeface="Times New Roman" panose="02020603050405020304" charset="0"/>
              </a:rPr>
              <a:t>s and its Analysis</a:t>
            </a:r>
            <a:endParaRPr lang="en-US" sz="4900" b="1"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strike="noStrike" dirty="0">
                <a:solidFill>
                  <a:srgbClr val="000000"/>
                </a:solidFill>
                <a:latin typeface="Times New Roman" panose="02020603050405020304" charset="0"/>
                <a:cs typeface="Times New Roman" panose="02020603050405020304" charset="0"/>
              </a:rPr>
              <a:t>Conclusion and Future Scope</a:t>
            </a:r>
            <a:endParaRPr lang="en-US" sz="4900" b="1" strike="noStrike" dirty="0">
              <a:solidFill>
                <a:srgbClr val="000000"/>
              </a:solidFill>
              <a:latin typeface="Times New Roman" panose="02020603050405020304" charset="0"/>
              <a:cs typeface="Times New Roman" panose="02020603050405020304" charset="0"/>
            </a:endParaRPr>
          </a:p>
          <a:p>
            <a:pPr marL="365760" lvl="0" indent="-283210" algn="l" rtl="0">
              <a:lnSpc>
                <a:spcPct val="150000"/>
              </a:lnSpc>
              <a:spcBef>
                <a:spcPts val="600"/>
              </a:spcBef>
              <a:spcAft>
                <a:spcPts val="0"/>
              </a:spcAft>
              <a:buClr>
                <a:srgbClr val="3891A7"/>
              </a:buClr>
              <a:buSzPct val="80000"/>
              <a:buFont typeface="Noto Sans Symbols"/>
              <a:buChar char="▪"/>
            </a:pPr>
            <a:r>
              <a:rPr lang="en-US" sz="4900" b="1" dirty="0">
                <a:solidFill>
                  <a:srgbClr val="000000"/>
                </a:solidFill>
                <a:latin typeface="Times New Roman" panose="02020603050405020304" charset="0"/>
                <a:cs typeface="Times New Roman" panose="02020603050405020304" charset="0"/>
              </a:rPr>
              <a:t>Bibliography</a:t>
            </a:r>
            <a:endParaRPr sz="4900" b="1" dirty="0">
              <a:solidFill>
                <a:srgbClr val="000000"/>
              </a:solidFill>
              <a:latin typeface="Times New Roman" panose="02020603050405020304" charset="0"/>
              <a:cs typeface="Times New Roman" panose="02020603050405020304" charset="0"/>
            </a:endParaRPr>
          </a:p>
          <a:p>
            <a:pPr marL="228600" lvl="0" indent="-191135" algn="l" rtl="0">
              <a:lnSpc>
                <a:spcPct val="90000"/>
              </a:lnSpc>
              <a:spcBef>
                <a:spcPts val="1000"/>
              </a:spcBef>
              <a:spcAft>
                <a:spcPts val="0"/>
              </a:spcAft>
              <a:buClr>
                <a:schemeClr val="dk1"/>
              </a:buClr>
              <a:buSzPct val="100000"/>
              <a:buFont typeface="Noto Sans Symbols"/>
              <a:buNone/>
            </a:pPr>
            <a:endParaRPr sz="1800" dirty="0">
              <a:latin typeface="Times New Roman" panose="02020603050405020304" charset="0"/>
              <a:cs typeface="Times New Roman" panose="02020603050405020304" charset="0"/>
            </a:endParaRPr>
          </a:p>
        </p:txBody>
      </p:sp>
      <p:sp>
        <p:nvSpPr>
          <p:cNvPr id="98" name="Google Shape;98;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99" name="Google Shape;99;p14"/>
          <p:cNvSpPr/>
          <p:nvPr/>
        </p:nvSpPr>
        <p:spPr>
          <a:xfrm>
            <a:off x="451163" y="268941"/>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strike="noStrike" dirty="0">
                <a:solidFill>
                  <a:srgbClr val="2E75B5"/>
                </a:solidFill>
                <a:latin typeface="Calibri" panose="020F0502020204030204"/>
                <a:ea typeface="Calibri" panose="020F0502020204030204"/>
                <a:cs typeface="Calibri" panose="020F0502020204030204"/>
                <a:sym typeface="Calibri" panose="020F0502020204030204"/>
              </a:rPr>
              <a:t>            Presentation Outline</a:t>
            </a: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3875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Dept. of CS &amp; IT</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body" idx="1"/>
          </p:nvPr>
        </p:nvSpPr>
        <p:spPr>
          <a:xfrm>
            <a:off x="450850" y="1442085"/>
            <a:ext cx="11172190" cy="5279390"/>
          </a:xfrm>
          <a:prstGeom prst="rect">
            <a:avLst/>
          </a:prstGeom>
          <a:noFill/>
          <a:ln>
            <a:noFill/>
          </a:ln>
        </p:spPr>
        <p:txBody>
          <a:bodyPr spcFirstLastPara="1" wrap="square" lIns="91425" tIns="45700" rIns="91425" bIns="45700" anchor="t" anchorCtr="0">
            <a:normAutofit fontScale="25000"/>
          </a:bodyPr>
          <a:lstStyle/>
          <a:p>
            <a:pPr marL="0" lvl="1" indent="0" algn="l" rtl="0">
              <a:lnSpc>
                <a:spcPct val="150000"/>
              </a:lnSpc>
              <a:spcBef>
                <a:spcPts val="0"/>
              </a:spcBef>
              <a:spcAft>
                <a:spcPts val="0"/>
              </a:spcAft>
              <a:buClr>
                <a:srgbClr val="3891A7"/>
              </a:buClr>
              <a:buSzPts val="2400"/>
              <a:buNone/>
            </a:pPr>
            <a:r>
              <a:rPr lang="en-US" altLang="en-US" sz="7200" b="1" dirty="0">
                <a:solidFill>
                  <a:srgbClr val="000000"/>
                </a:solidFill>
                <a:latin typeface="Times New Roman" panose="02020603050405020304" charset="0"/>
                <a:cs typeface="Times New Roman" panose="02020603050405020304" charset="0"/>
                <a:sym typeface="+mn-ea"/>
              </a:rPr>
              <a:t>Overview/Specifications:</a:t>
            </a:r>
            <a:endParaRPr lang="en-US" altLang="en-US" sz="7200" b="1" dirty="0">
              <a:solidFill>
                <a:srgbClr val="000000"/>
              </a:solidFill>
              <a:latin typeface="Times New Roman" panose="02020603050405020304" charset="0"/>
              <a:cs typeface="Times New Roman" panose="02020603050405020304" charset="0"/>
              <a:sym typeface="+mn-ea"/>
            </a:endParaRPr>
          </a:p>
          <a:p>
            <a:pPr marL="285750" lvl="1" indent="-285750" algn="just" rtl="0">
              <a:lnSpc>
                <a:spcPct val="150000"/>
              </a:lnSpc>
              <a:spcBef>
                <a:spcPts val="0"/>
              </a:spcBef>
              <a:spcAft>
                <a:spcPts val="0"/>
              </a:spcAft>
              <a:buClr>
                <a:srgbClr val="3891A7"/>
              </a:buClr>
              <a:buSzPts val="2400"/>
              <a:buFont typeface="Wingdings" panose="05000000000000000000" charset="0"/>
              <a:buChar char="o"/>
            </a:pPr>
            <a:r>
              <a:rPr lang="en-US" altLang="en-US" sz="6400" dirty="0">
                <a:solidFill>
                  <a:srgbClr val="000000"/>
                </a:solidFill>
                <a:latin typeface="Times New Roman" panose="02020603050405020304" charset="0"/>
                <a:cs typeface="Times New Roman" panose="02020603050405020304" charset="0"/>
                <a:sym typeface="+mn-ea"/>
              </a:rPr>
              <a:t>Agriculture is the backbone of the Indian economy, employing a significant portion of the population. However, the sector       continues to face several challenges, including low productivity, small and fragmented landholdings, unpredictable weather, outdated farming practices, and lack of access to market pricing and government schemes.</a:t>
            </a:r>
            <a:endParaRPr lang="en-US" altLang="en-US" sz="6400" dirty="0">
              <a:solidFill>
                <a:srgbClr val="000000"/>
              </a:solidFill>
              <a:latin typeface="Times New Roman" panose="02020603050405020304" charset="0"/>
              <a:cs typeface="Times New Roman" panose="02020603050405020304" charset="0"/>
              <a:sym typeface="+mn-ea"/>
            </a:endParaRPr>
          </a:p>
          <a:p>
            <a:pPr marL="285750" lvl="1" indent="-285750" algn="just" rtl="0">
              <a:lnSpc>
                <a:spcPct val="150000"/>
              </a:lnSpc>
              <a:spcBef>
                <a:spcPts val="0"/>
              </a:spcBef>
              <a:spcAft>
                <a:spcPts val="0"/>
              </a:spcAft>
              <a:buClr>
                <a:srgbClr val="3891A7"/>
              </a:buClr>
              <a:buSzPts val="2400"/>
              <a:buFont typeface="Wingdings" panose="05000000000000000000" charset="0"/>
              <a:buChar char="o"/>
            </a:pPr>
            <a:r>
              <a:rPr lang="en-US" altLang="en-US" sz="6400" strike="noStrike" dirty="0">
                <a:solidFill>
                  <a:srgbClr val="000000"/>
                </a:solidFill>
                <a:latin typeface="Times New Roman" panose="02020603050405020304" charset="0"/>
                <a:cs typeface="Times New Roman" panose="02020603050405020304" charset="0"/>
              </a:rPr>
              <a:t>Digital transformation in agriculture is necessary to bridge these gaps and improve crop yield, disease management, and economic sustainability. This project proposes a smart agricultural platform that uses AI and ML techniques to provide crop recommendations, detect plant diseases via image classification, and integrate support tools such as weather forecasting, warehouse locator, and access to training and government schemes.</a:t>
            </a:r>
            <a:endParaRPr lang="en-US" altLang="en-US" sz="6400" strike="noStrike" dirty="0">
              <a:solidFill>
                <a:srgbClr val="000000"/>
              </a:solidFill>
              <a:latin typeface="Times New Roman" panose="02020603050405020304" charset="0"/>
              <a:cs typeface="Times New Roman" panose="02020603050405020304" charset="0"/>
            </a:endParaRPr>
          </a:p>
          <a:p>
            <a:pPr marL="285750" lvl="1" indent="-285750" algn="just" rtl="0">
              <a:lnSpc>
                <a:spcPct val="150000"/>
              </a:lnSpc>
              <a:spcBef>
                <a:spcPts val="0"/>
              </a:spcBef>
              <a:spcAft>
                <a:spcPts val="0"/>
              </a:spcAft>
              <a:buClr>
                <a:srgbClr val="3891A7"/>
              </a:buClr>
              <a:buSzPts val="2400"/>
              <a:buFont typeface="Wingdings" panose="05000000000000000000" charset="0"/>
              <a:buChar char="o"/>
            </a:pPr>
            <a:r>
              <a:rPr lang="en-US" altLang="en-US" sz="6400" b="1" strike="noStrike" dirty="0">
                <a:solidFill>
                  <a:srgbClr val="000000"/>
                </a:solidFill>
                <a:latin typeface="Times New Roman" panose="02020603050405020304" charset="0"/>
                <a:cs typeface="Times New Roman" panose="02020603050405020304" charset="0"/>
              </a:rPr>
              <a:t>The system leverages:</a:t>
            </a:r>
            <a:endParaRPr lang="en-US" altLang="en-US" sz="6400" b="1" strike="noStrike" dirty="0">
              <a:solidFill>
                <a:srgbClr val="000000"/>
              </a:solidFill>
              <a:latin typeface="Times New Roman" panose="02020603050405020304" charset="0"/>
              <a:cs typeface="Times New Roman" panose="02020603050405020304" charset="0"/>
            </a:endParaRPr>
          </a:p>
          <a:p>
            <a:pPr marL="688340" lvl="1" indent="-285750" algn="just" rtl="0">
              <a:lnSpc>
                <a:spcPct val="150000"/>
              </a:lnSpc>
              <a:spcBef>
                <a:spcPts val="550"/>
              </a:spcBef>
              <a:spcAft>
                <a:spcPts val="0"/>
              </a:spcAft>
              <a:buClr>
                <a:srgbClr val="3891A7"/>
              </a:buClr>
              <a:buSzPts val="2400"/>
              <a:buFont typeface="Wingdings" panose="05000000000000000000" charset="0"/>
              <a:buChar char="§"/>
            </a:pPr>
            <a:r>
              <a:rPr lang="en-US" altLang="en-US" sz="6400" strike="noStrike" dirty="0">
                <a:solidFill>
                  <a:srgbClr val="000000"/>
                </a:solidFill>
                <a:latin typeface="Times New Roman" panose="02020603050405020304" charset="0"/>
                <a:cs typeface="Times New Roman" panose="02020603050405020304" charset="0"/>
              </a:rPr>
              <a:t>XGBoost for recommending the most suitable crop based on soil and weather parameters.</a:t>
            </a:r>
            <a:endParaRPr lang="en-US" altLang="en-US" sz="6400" strike="noStrike" dirty="0">
              <a:solidFill>
                <a:srgbClr val="000000"/>
              </a:solidFill>
              <a:latin typeface="Times New Roman" panose="02020603050405020304" charset="0"/>
              <a:cs typeface="Times New Roman" panose="02020603050405020304" charset="0"/>
            </a:endParaRPr>
          </a:p>
          <a:p>
            <a:pPr marL="688340" lvl="1" indent="-285750" algn="just" rtl="0">
              <a:lnSpc>
                <a:spcPct val="150000"/>
              </a:lnSpc>
              <a:spcBef>
                <a:spcPts val="550"/>
              </a:spcBef>
              <a:spcAft>
                <a:spcPts val="0"/>
              </a:spcAft>
              <a:buClr>
                <a:srgbClr val="3891A7"/>
              </a:buClr>
              <a:buSzPts val="2400"/>
              <a:buFont typeface="Wingdings" panose="05000000000000000000" charset="0"/>
              <a:buChar char="§"/>
            </a:pPr>
            <a:r>
              <a:rPr lang="en-US" altLang="en-US" sz="6400" strike="noStrike" dirty="0">
                <a:solidFill>
                  <a:srgbClr val="000000"/>
                </a:solidFill>
                <a:latin typeface="Times New Roman" panose="02020603050405020304" charset="0"/>
                <a:cs typeface="Times New Roman" panose="02020603050405020304" charset="0"/>
              </a:rPr>
              <a:t>MobileNetV2 with attention for accurate plant disease detection.</a:t>
            </a:r>
            <a:endParaRPr lang="en-US" altLang="en-US" sz="6400" strike="noStrike" dirty="0">
              <a:solidFill>
                <a:srgbClr val="000000"/>
              </a:solidFill>
              <a:latin typeface="Times New Roman" panose="02020603050405020304" charset="0"/>
              <a:cs typeface="Times New Roman" panose="02020603050405020304" charset="0"/>
            </a:endParaRPr>
          </a:p>
          <a:p>
            <a:pPr marL="688340" lvl="1" indent="-285750" algn="just" rtl="0">
              <a:lnSpc>
                <a:spcPct val="150000"/>
              </a:lnSpc>
              <a:spcBef>
                <a:spcPts val="550"/>
              </a:spcBef>
              <a:spcAft>
                <a:spcPts val="0"/>
              </a:spcAft>
              <a:buClr>
                <a:srgbClr val="3891A7"/>
              </a:buClr>
              <a:buSzPts val="2400"/>
              <a:buFont typeface="Wingdings" panose="05000000000000000000" charset="0"/>
              <a:buChar char="§"/>
            </a:pPr>
            <a:r>
              <a:rPr lang="en-US" altLang="en-US" sz="6400" strike="noStrike" dirty="0">
                <a:solidFill>
                  <a:srgbClr val="000000"/>
                </a:solidFill>
                <a:latin typeface="Times New Roman" panose="02020603050405020304" charset="0"/>
                <a:cs typeface="Times New Roman" panose="02020603050405020304" charset="0"/>
              </a:rPr>
              <a:t>External APIs for live weather data, nearest storage location detection, and curated government scheme information.</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l" rtl="0">
              <a:lnSpc>
                <a:spcPct val="100000"/>
              </a:lnSpc>
              <a:spcBef>
                <a:spcPts val="550"/>
              </a:spcBef>
              <a:spcAft>
                <a:spcPts val="0"/>
              </a:spcAft>
              <a:buClr>
                <a:srgbClr val="3891A7"/>
              </a:buClr>
              <a:buSzPts val="2400"/>
              <a:buFont typeface="Wingdings" panose="05000000000000000000" charset="0"/>
              <a:buNone/>
            </a:pPr>
            <a:endParaRPr sz="1800" b="0" strike="noStrike" dirty="0">
              <a:solidFill>
                <a:srgbClr val="000000"/>
              </a:solidFill>
            </a:endParaRPr>
          </a:p>
        </p:txBody>
      </p:sp>
      <p:sp>
        <p:nvSpPr>
          <p:cNvPr id="105" name="Google Shape;10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6" name="Google Shape;106;p15"/>
          <p:cNvSpPr/>
          <p:nvPr/>
        </p:nvSpPr>
        <p:spPr>
          <a:xfrm>
            <a:off x="451162"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1" dirty="0">
              <a:solidFill>
                <a:srgbClr val="2E75B5"/>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Introduction</a:t>
            </a:r>
            <a:r>
              <a:rPr lang="en-US" sz="2800" dirty="0">
                <a:solidFill>
                  <a:schemeClr val="lt1"/>
                </a:solidFill>
                <a:latin typeface="Calibri" panose="020F0502020204030204"/>
                <a:ea typeface="Calibri" panose="020F0502020204030204"/>
                <a:cs typeface="Calibri" panose="020F0502020204030204"/>
                <a:sym typeface="Calibri" panose="020F0502020204030204"/>
              </a:rPr>
              <a:t> </a:t>
            </a:r>
            <a:br>
              <a:rPr lang="en-US" sz="2800" dirty="0">
                <a:solidFill>
                  <a:schemeClr val="lt1"/>
                </a:solidFill>
                <a:latin typeface="Calibri" panose="020F0502020204030204"/>
                <a:ea typeface="Calibri" panose="020F0502020204030204"/>
                <a:cs typeface="Calibri" panose="020F0502020204030204"/>
                <a:sym typeface="Calibri" panose="020F05020202040302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,Dept. of CS &amp; IT</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5"/>
          <p:cNvSpPr txBox="1">
            <a:spLocks noGrp="1"/>
          </p:cNvSpPr>
          <p:nvPr>
            <p:ph type="body" idx="1"/>
          </p:nvPr>
        </p:nvSpPr>
        <p:spPr>
          <a:xfrm>
            <a:off x="450850" y="1318260"/>
            <a:ext cx="11021695" cy="5403215"/>
          </a:xfrm>
          <a:prstGeom prst="rect">
            <a:avLst/>
          </a:prstGeom>
          <a:noFill/>
          <a:ln>
            <a:noFill/>
          </a:ln>
        </p:spPr>
        <p:txBody>
          <a:bodyPr spcFirstLastPara="1" wrap="square" lIns="91425" tIns="45700" rIns="91425" bIns="45700" anchor="t" anchorCtr="0">
            <a:normAutofit fontScale="25000"/>
          </a:bodyPr>
          <a:lstStyle/>
          <a:p>
            <a:pPr marL="402590" lvl="1" indent="0" algn="just" rtl="0">
              <a:lnSpc>
                <a:spcPct val="100000"/>
              </a:lnSpc>
              <a:spcBef>
                <a:spcPts val="0"/>
              </a:spcBef>
              <a:spcAft>
                <a:spcPts val="0"/>
              </a:spcAft>
              <a:buClr>
                <a:srgbClr val="3891A7"/>
              </a:buClr>
              <a:buSzPts val="2400"/>
              <a:buNone/>
            </a:pPr>
            <a:r>
              <a:rPr lang="en-US" altLang="en-US" sz="6400" b="1" strike="noStrike" dirty="0">
                <a:solidFill>
                  <a:srgbClr val="000000"/>
                </a:solidFill>
                <a:latin typeface="Times New Roman" panose="02020603050405020304" charset="0"/>
                <a:cs typeface="Times New Roman" panose="02020603050405020304" charset="0"/>
              </a:rPr>
              <a:t>Indian farmers continue to face key problems such as:</a:t>
            </a:r>
            <a:endParaRPr lang="en-US" altLang="en-US" sz="6400" b="1"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Heavy dependency on monsoons due to lack of irrigation.</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Fragmented land and outdated methods limiting productivity.</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Market fluctuations and middlemen causing unstable income.</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Limited digital literacy and access to relevant government support schemes.</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b="1" strike="noStrike" dirty="0">
                <a:solidFill>
                  <a:srgbClr val="000000"/>
                </a:solidFill>
                <a:latin typeface="Times New Roman" panose="02020603050405020304" charset="0"/>
                <a:cs typeface="Times New Roman" panose="02020603050405020304" charset="0"/>
              </a:rPr>
              <a:t>While platforms like PM-Kisan and eNAM exist, lack of awareness prevents full utilization. This project is motivated by the need to:</a:t>
            </a:r>
            <a:endParaRPr lang="en-US" altLang="en-US" sz="6400" b="1"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br>
              <a:rPr lang="en-US" altLang="en-US" sz="6400" strike="noStrike" dirty="0">
                <a:solidFill>
                  <a:srgbClr val="000000"/>
                </a:solidFill>
                <a:latin typeface="Times New Roman" panose="02020603050405020304" charset="0"/>
                <a:cs typeface="Times New Roman" panose="02020603050405020304" charset="0"/>
              </a:rPr>
            </a:br>
            <a:r>
              <a:rPr lang="en-US" altLang="en-US" sz="6400" strike="noStrike" dirty="0">
                <a:solidFill>
                  <a:srgbClr val="000000"/>
                </a:solidFill>
                <a:latin typeface="Times New Roman" panose="02020603050405020304" charset="0"/>
                <a:cs typeface="Times New Roman" panose="02020603050405020304" charset="0"/>
              </a:rPr>
              <a:t>Provide crop and disease diagnosis tools using DL.</a:t>
            </a: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Offer educational content on sustainable farming practices.</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Deliver localized support including weather insights and nearby storage options.</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Improve access to government benefits by aggregating relevant scheme information.</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endParaRPr lang="en-US" altLang="en-US" sz="5335" strike="noStrike" dirty="0">
              <a:solidFill>
                <a:srgbClr val="000000"/>
              </a:solidFill>
              <a:latin typeface="Times New Roman" panose="02020603050405020304" charset="0"/>
              <a:cs typeface="Times New Roman" panose="02020603050405020304" charset="0"/>
            </a:endParaRPr>
          </a:p>
          <a:p>
            <a:pPr marL="402590" lvl="1" indent="0" algn="just" rtl="0">
              <a:lnSpc>
                <a:spcPct val="100000"/>
              </a:lnSpc>
              <a:spcBef>
                <a:spcPts val="0"/>
              </a:spcBef>
              <a:spcAft>
                <a:spcPts val="0"/>
              </a:spcAft>
              <a:buClr>
                <a:srgbClr val="3891A7"/>
              </a:buClr>
              <a:buSzPts val="2400"/>
              <a:buNone/>
            </a:pPr>
            <a:r>
              <a:rPr lang="en-US" altLang="en-US" sz="6400" strike="noStrike" dirty="0">
                <a:solidFill>
                  <a:srgbClr val="000000"/>
                </a:solidFill>
                <a:latin typeface="Times New Roman" panose="02020603050405020304" charset="0"/>
                <a:cs typeface="Times New Roman" panose="02020603050405020304" charset="0"/>
              </a:rPr>
              <a:t>By offering all these through a single unified platform, this system helps make farming more informed, profitable, and resilient to uncertainties.</a:t>
            </a:r>
            <a:endParaRPr lang="en-US" altLang="en-US" sz="6400" strike="noStrike" dirty="0">
              <a:solidFill>
                <a:srgbClr val="000000"/>
              </a:solidFill>
              <a:latin typeface="Times New Roman" panose="02020603050405020304" charset="0"/>
              <a:cs typeface="Times New Roman" panose="02020603050405020304" charset="0"/>
            </a:endParaRPr>
          </a:p>
          <a:p>
            <a:pPr marL="402590" lvl="1" indent="0" algn="l" rtl="0">
              <a:lnSpc>
                <a:spcPct val="100000"/>
              </a:lnSpc>
              <a:spcBef>
                <a:spcPts val="550"/>
              </a:spcBef>
              <a:spcAft>
                <a:spcPts val="0"/>
              </a:spcAft>
              <a:buClr>
                <a:srgbClr val="3891A7"/>
              </a:buClr>
              <a:buSzPts val="2400"/>
              <a:buFont typeface="Noto Sans Symbols"/>
              <a:buNone/>
            </a:pPr>
            <a:endParaRPr b="1" strike="noStrike" dirty="0">
              <a:solidFill>
                <a:srgbClr val="000000"/>
              </a:solidFill>
            </a:endParaRPr>
          </a:p>
          <a:p>
            <a:pPr marL="402590" lvl="1" indent="0" algn="l" rtl="0">
              <a:lnSpc>
                <a:spcPct val="100000"/>
              </a:lnSpc>
              <a:spcBef>
                <a:spcPts val="550"/>
              </a:spcBef>
              <a:spcAft>
                <a:spcPts val="0"/>
              </a:spcAft>
              <a:buClr>
                <a:srgbClr val="3891A7"/>
              </a:buClr>
              <a:buSzPts val="2400"/>
              <a:buFont typeface="Noto Sans Symbols"/>
              <a:buNone/>
            </a:pPr>
            <a:endParaRPr b="1" strike="noStrike" dirty="0">
              <a:solidFill>
                <a:srgbClr val="000000"/>
              </a:solidFill>
            </a:endParaRPr>
          </a:p>
          <a:p>
            <a:pPr marL="402590" lvl="1" indent="0" algn="l" rtl="0">
              <a:lnSpc>
                <a:spcPct val="100000"/>
              </a:lnSpc>
              <a:spcBef>
                <a:spcPts val="550"/>
              </a:spcBef>
              <a:spcAft>
                <a:spcPts val="0"/>
              </a:spcAft>
              <a:buClr>
                <a:srgbClr val="3891A7"/>
              </a:buClr>
              <a:buSzPts val="2400"/>
              <a:buNone/>
            </a:pPr>
            <a:r>
              <a:rPr lang="en-US" sz="2400" dirty="0">
                <a:solidFill>
                  <a:srgbClr val="000000"/>
                </a:solidFill>
              </a:rPr>
              <a:t>	</a:t>
            </a:r>
            <a:endParaRPr sz="1800" b="0" strike="noStrike" dirty="0">
              <a:solidFill>
                <a:srgbClr val="000000"/>
              </a:solidFill>
            </a:endParaRPr>
          </a:p>
        </p:txBody>
      </p:sp>
      <p:sp>
        <p:nvSpPr>
          <p:cNvPr id="105" name="Google Shape;10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06" name="Google Shape;106;p15"/>
          <p:cNvSpPr/>
          <p:nvPr/>
        </p:nvSpPr>
        <p:spPr>
          <a:xfrm>
            <a:off x="451162"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800" b="1" dirty="0">
              <a:solidFill>
                <a:srgbClr val="2E75B5"/>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Motivation</a:t>
            </a:r>
            <a:br>
              <a:rPr lang="en-US" sz="2800" dirty="0">
                <a:solidFill>
                  <a:schemeClr val="lt1"/>
                </a:solidFill>
                <a:latin typeface="Calibri" panose="020F0502020204030204"/>
                <a:ea typeface="Calibri" panose="020F0502020204030204"/>
                <a:cs typeface="Calibri" panose="020F0502020204030204"/>
                <a:sym typeface="Calibri" panose="020F05020202040302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 Dept. of CS &amp; IT</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body" idx="1"/>
          </p:nvPr>
        </p:nvSpPr>
        <p:spPr>
          <a:xfrm>
            <a:off x="450850" y="1288415"/>
            <a:ext cx="11021695" cy="5333365"/>
          </a:xfrm>
          <a:prstGeom prst="rect">
            <a:avLst/>
          </a:prstGeom>
          <a:noFill/>
          <a:ln>
            <a:noFill/>
          </a:ln>
        </p:spPr>
        <p:txBody>
          <a:bodyPr spcFirstLastPara="1" wrap="square" lIns="91425" tIns="45700" rIns="91425" bIns="45700" anchor="t" anchorCtr="0">
            <a:normAutofit/>
          </a:bodyPr>
          <a:lstStyle/>
          <a:p>
            <a:pPr marL="402590" lvl="1" indent="0" algn="l" rtl="0">
              <a:lnSpc>
                <a:spcPct val="100000"/>
              </a:lnSpc>
              <a:spcBef>
                <a:spcPts val="550"/>
              </a:spcBef>
              <a:spcAft>
                <a:spcPts val="0"/>
              </a:spcAft>
              <a:buClr>
                <a:srgbClr val="3891A7"/>
              </a:buClr>
              <a:buSzPts val="2400"/>
              <a:buNone/>
            </a:pPr>
            <a:endParaRPr sz="2400" b="1" strike="noStrike" dirty="0">
              <a:solidFill>
                <a:srgbClr val="000000"/>
              </a:solidFill>
            </a:endParaRPr>
          </a:p>
          <a:p>
            <a:pPr marL="228600" lvl="0" indent="-114300" algn="l" rtl="0">
              <a:lnSpc>
                <a:spcPct val="90000"/>
              </a:lnSpc>
              <a:spcBef>
                <a:spcPts val="1000"/>
              </a:spcBef>
              <a:spcAft>
                <a:spcPts val="0"/>
              </a:spcAft>
              <a:buClr>
                <a:schemeClr val="dk1"/>
              </a:buClr>
              <a:buSzPts val="1800"/>
              <a:buFont typeface="Noto Sans Symbols"/>
              <a:buNone/>
            </a:pPr>
            <a:endParaRPr sz="1800" dirty="0"/>
          </a:p>
        </p:txBody>
      </p:sp>
      <p:sp>
        <p:nvSpPr>
          <p:cNvPr id="118" name="Google Shape;11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19" name="Google Shape;119;p17"/>
          <p:cNvSpPr/>
          <p:nvPr/>
        </p:nvSpPr>
        <p:spPr>
          <a:xfrm>
            <a:off x="451162"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Literature </a:t>
            </a:r>
            <a:r>
              <a:rPr lang="en-US" sz="2800" b="1" dirty="0">
                <a:solidFill>
                  <a:schemeClr val="accent1"/>
                </a:solidFill>
                <a:latin typeface="Calibri" panose="020F0502020204030204" pitchFamily="34" charset="0"/>
                <a:ea typeface="Calibri" panose="020F0502020204030204" pitchFamily="34" charset="0"/>
                <a:cs typeface="Calibri" panose="020F0502020204030204" pitchFamily="34" charset="0"/>
                <a:sym typeface="Calibri" panose="020F0502020204030204"/>
              </a:rPr>
              <a:t>Review</a:t>
            </a:r>
            <a:r>
              <a:rPr lang="en-US" sz="2800" b="1" strike="noStrike" dirty="0">
                <a:solidFill>
                  <a:schemeClr val="accent1"/>
                </a:solidFill>
                <a:latin typeface="Calibri" panose="020F0502020204030204" pitchFamily="34" charset="0"/>
                <a:ea typeface="Calibri" panose="020F0502020204030204" pitchFamily="34" charset="0"/>
                <a:cs typeface="Calibri" panose="020F0502020204030204" pitchFamily="34" charset="0"/>
              </a:rPr>
              <a:t> /Existing or Similar Product/Process/Algorithm</a:t>
            </a:r>
            <a:endParaRPr sz="2800" dirty="0">
              <a:solidFill>
                <a:schemeClr val="accent1"/>
              </a:solidFill>
              <a:latin typeface="Calibri" panose="020F0502020204030204" pitchFamily="34" charset="0"/>
              <a:ea typeface="Calibri" panose="020F0502020204030204" pitchFamily="34" charset="0"/>
              <a:cs typeface="Calibri" panose="020F0502020204030204" pitchFamily="34" charset="0"/>
              <a:sym typeface="Calibri" panose="020F0502020204030204"/>
            </a:endParaRPr>
          </a:p>
        </p:txBody>
      </p:sp>
      <p:pic>
        <p:nvPicPr>
          <p:cNvPr id="2" name="Google Shape;92;p13"/>
          <p:cNvPicPr preferRelativeResize="0"/>
          <p:nvPr/>
        </p:nvPicPr>
        <p:blipFill rotWithShape="1">
          <a:blip r:embed="rId1"/>
          <a:srcRect/>
          <a:stretch>
            <a:fillRect/>
          </a:stretch>
        </p:blipFill>
        <p:spPr>
          <a:xfrm>
            <a:off x="582146"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 Dept. of CS &amp; IT</a:t>
            </a:r>
            <a:endParaRPr lang="en-IN" dirty="0"/>
          </a:p>
        </p:txBody>
      </p:sp>
      <p:graphicFrame>
        <p:nvGraphicFramePr>
          <p:cNvPr id="4" name="Table 3"/>
          <p:cNvGraphicFramePr>
            <a:graphicFrameLocks noGrp="1"/>
          </p:cNvGraphicFramePr>
          <p:nvPr>
            <p:custDataLst>
              <p:tags r:id="rId2"/>
            </p:custDataLst>
          </p:nvPr>
        </p:nvGraphicFramePr>
        <p:xfrm>
          <a:off x="450850" y="1811020"/>
          <a:ext cx="11351260" cy="4419600"/>
        </p:xfrm>
        <a:graphic>
          <a:graphicData uri="http://schemas.openxmlformats.org/drawingml/2006/table">
            <a:tbl>
              <a:tblPr firstRow="1" bandRow="1">
                <a:tableStyleId>{5C22544A-7EE6-4342-B048-85BDC9FD1C3A}</a:tableStyleId>
              </a:tblPr>
              <a:tblGrid>
                <a:gridCol w="1891030"/>
                <a:gridCol w="1893570"/>
                <a:gridCol w="1899920"/>
                <a:gridCol w="1882140"/>
                <a:gridCol w="1893570"/>
                <a:gridCol w="1891030"/>
              </a:tblGrid>
              <a:tr h="1066800">
                <a:tc>
                  <a:txBody>
                    <a:bodyPr/>
                    <a:lstStyle/>
                    <a:p>
                      <a:r>
                        <a:rPr lang="en-US" sz="1600" dirty="0">
                          <a:latin typeface="Times New Roman" panose="02020603050405020304" charset="0"/>
                          <a:cs typeface="Times New Roman" panose="02020603050405020304" charset="0"/>
                        </a:rPr>
                        <a:t>    </a:t>
                      </a:r>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Title of the paper</a:t>
                      </a:r>
                      <a:endParaRPr lang="en-US" sz="1600" dirty="0">
                        <a:latin typeface="Times New Roman" panose="02020603050405020304" charset="0"/>
                        <a:cs typeface="Times New Roman" panose="02020603050405020304" charset="0"/>
                      </a:endParaRPr>
                    </a:p>
                  </a:txBody>
                  <a:tcPr/>
                </a:tc>
                <a:tc>
                  <a:txBody>
                    <a:bodyPr/>
                    <a:lstStyle/>
                    <a:p>
                      <a:endParaRPr lang="en-US" sz="160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Author and year</a:t>
                      </a:r>
                      <a:endParaRPr lang="en-US" sz="1600" dirty="0">
                        <a:latin typeface="Times New Roman" panose="02020603050405020304" charset="0"/>
                        <a:cs typeface="Times New Roman" panose="02020603050405020304" charset="0"/>
                      </a:endParaRPr>
                    </a:p>
                  </a:txBody>
                  <a:tcPr/>
                </a:tc>
                <a:tc>
                  <a:txBody>
                    <a:bodyPr/>
                    <a:lstStyle/>
                    <a:p>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Dataset used</a:t>
                      </a:r>
                      <a:endParaRPr lang="en-US" sz="1600" dirty="0">
                        <a:latin typeface="Times New Roman" panose="02020603050405020304" charset="0"/>
                        <a:cs typeface="Times New Roman" panose="02020603050405020304" charset="0"/>
                      </a:endParaRPr>
                    </a:p>
                  </a:txBody>
                  <a:tcPr/>
                </a:tc>
                <a:tc>
                  <a:txBody>
                    <a:bodyPr/>
                    <a:lstStyle/>
                    <a:p>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Findings</a:t>
                      </a:r>
                      <a:endParaRPr lang="en-US" sz="1600" dirty="0">
                        <a:latin typeface="Times New Roman" panose="02020603050405020304" charset="0"/>
                        <a:cs typeface="Times New Roman" panose="02020603050405020304" charset="0"/>
                      </a:endParaRPr>
                    </a:p>
                  </a:txBody>
                  <a:tcPr/>
                </a:tc>
                <a:tc>
                  <a:txBody>
                    <a:bodyPr/>
                    <a:lstStyle/>
                    <a:p>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   Limitations</a:t>
                      </a:r>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txBody>
                  <a:tcPr/>
                </a:tc>
                <a:tc>
                  <a:txBody>
                    <a:bodyPr/>
                    <a:lstStyle/>
                    <a:p>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p>
                      <a:pPr lvl="0">
                        <a:buNone/>
                      </a:pPr>
                      <a:r>
                        <a:rPr lang="en-US" sz="1600" dirty="0">
                          <a:latin typeface="Times New Roman" panose="02020603050405020304" charset="0"/>
                          <a:cs typeface="Times New Roman" panose="02020603050405020304" charset="0"/>
                        </a:rPr>
                        <a:t>Summary</a:t>
                      </a:r>
                      <a:endParaRPr lang="en-US" sz="1600" dirty="0">
                        <a:latin typeface="Times New Roman" panose="02020603050405020304" charset="0"/>
                        <a:cs typeface="Times New Roman" panose="02020603050405020304" charset="0"/>
                      </a:endParaRPr>
                    </a:p>
                  </a:txBody>
                  <a:tcPr/>
                </a:tc>
              </a:tr>
              <a:tr h="1798320">
                <a:tc>
                  <a:txBody>
                    <a:bodyPr/>
                    <a:lstStyle/>
                    <a:p>
                      <a:pPr lvl="0">
                        <a:buNone/>
                      </a:pPr>
                      <a:r>
                        <a:rPr lang="en-US" sz="1600" b="0" i="0" u="none" strike="noStrike" noProof="0" dirty="0">
                          <a:latin typeface="Times New Roman" panose="02020603050405020304" charset="0"/>
                          <a:cs typeface="Times New Roman" panose="02020603050405020304" charset="0"/>
                        </a:rPr>
                        <a:t>A Decision Support System for Crop Recommendation Using ML Classification</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MDPI Agriculture, 2024</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Custom CSV with SMOTE balancing; ~2,200 samples (augmented to ~4,000)</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Logistic Regression accuracy improved post-SMOTE; </a:t>
                      </a:r>
                      <a:r>
                        <a:rPr lang="en-US" sz="1600" b="0" i="0" u="none" strike="noStrike" noProof="0" dirty="0" err="1">
                          <a:latin typeface="Times New Roman" panose="02020603050405020304" charset="0"/>
                          <a:cs typeface="Times New Roman" panose="02020603050405020304" charset="0"/>
                        </a:rPr>
                        <a:t>XGBoost</a:t>
                      </a:r>
                      <a:r>
                        <a:rPr lang="en-US" sz="1600" b="0" i="0" u="none" strike="noStrike" noProof="0" dirty="0">
                          <a:latin typeface="Times New Roman" panose="02020603050405020304" charset="0"/>
                          <a:cs typeface="Times New Roman" panose="02020603050405020304" charset="0"/>
                        </a:rPr>
                        <a:t> performed well; SVC recall dropped drastically from 100% to 29%.</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SMOTE degraded performance of some models (e.g., SVC); inconsistent results across classifiers.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Showed the effect of class balancing with SMOTE on multiple classifiers in a crop recommendation setting</a:t>
                      </a:r>
                      <a:endParaRPr lang="en-US" sz="1600" b="0" i="0" u="none" strike="noStrike" noProof="0" dirty="0">
                        <a:latin typeface="Times New Roman" panose="02020603050405020304" charset="0"/>
                        <a:cs typeface="Times New Roman" panose="02020603050405020304" charset="0"/>
                      </a:endParaRPr>
                    </a:p>
                  </a:txBody>
                  <a:tcPr/>
                </a:tc>
              </a:tr>
              <a:tr h="1554480">
                <a:tc>
                  <a:txBody>
                    <a:bodyPr/>
                    <a:lstStyle/>
                    <a:p>
                      <a:pPr lvl="0">
                        <a:buNone/>
                      </a:pPr>
                      <a:r>
                        <a:rPr lang="en-US" sz="1600" b="0" i="0" u="none" strike="noStrike" noProof="0" dirty="0">
                          <a:latin typeface="Times New Roman" panose="02020603050405020304" charset="0"/>
                          <a:cs typeface="Times New Roman" panose="02020603050405020304" charset="0"/>
                        </a:rPr>
                        <a:t>Crop Recommendation for Maximizing Crop Yield Using Random Forest</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A. Kumar, 2023 (ResearchGate)</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lgn="l">
                        <a:lnSpc>
                          <a:spcPct val="100000"/>
                        </a:lnSpc>
                        <a:spcBef>
                          <a:spcPts val="0"/>
                        </a:spcBef>
                        <a:spcAft>
                          <a:spcPts val="0"/>
                        </a:spcAft>
                        <a:buNone/>
                      </a:pPr>
                      <a:r>
                        <a:rPr lang="en-US" sz="1600" dirty="0">
                          <a:latin typeface="Times New Roman" panose="02020603050405020304" charset="0"/>
                          <a:cs typeface="Times New Roman" panose="02020603050405020304" charset="0"/>
                        </a:rPr>
                        <a:t>CSV with soil parameters; ~1,400 samples</a:t>
                      </a:r>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Random Forest gave the best results; other models like NB, LR, and DT showed decent performance.</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Did not account for weather, or external variables.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Focused on maximizing yield using soil-based input features.</a:t>
                      </a:r>
                      <a:endParaRPr lang="en-US" sz="1600" b="0" i="0" u="none" strike="noStrike" noProof="0" dirty="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graphicFrame>
        <p:nvGraphicFramePr>
          <p:cNvPr id="7" name="Table 6"/>
          <p:cNvGraphicFramePr>
            <a:graphicFrameLocks noGrp="1"/>
          </p:cNvGraphicFramePr>
          <p:nvPr>
            <p:custDataLst>
              <p:tags r:id="rId1"/>
            </p:custDataLst>
          </p:nvPr>
        </p:nvGraphicFramePr>
        <p:xfrm>
          <a:off x="344170" y="302895"/>
          <a:ext cx="11372850" cy="6053455"/>
        </p:xfrm>
        <a:graphic>
          <a:graphicData uri="http://schemas.openxmlformats.org/drawingml/2006/table">
            <a:tbl>
              <a:tblPr firstRow="1" bandRow="1">
                <a:tableStyleId>{5C22544A-7EE6-4342-B048-85BDC9FD1C3A}</a:tableStyleId>
              </a:tblPr>
              <a:tblGrid>
                <a:gridCol w="1895475"/>
                <a:gridCol w="1895475"/>
                <a:gridCol w="1895475"/>
                <a:gridCol w="1895475"/>
                <a:gridCol w="1895475"/>
                <a:gridCol w="1895475"/>
              </a:tblGrid>
              <a:tr h="1046480">
                <a:tc>
                  <a:txBody>
                    <a:bodyPr/>
                    <a:lstStyle/>
                    <a:p>
                      <a:pPr lvl="0">
                        <a:buNone/>
                      </a:pPr>
                      <a:r>
                        <a:rPr lang="en-US" sz="1600" b="1" i="0" u="none" strike="noStrike" noProof="0" dirty="0">
                          <a:solidFill>
                            <a:srgbClr val="FFFFFF"/>
                          </a:solidFill>
                          <a:latin typeface="Times New Roman" panose="02020603050405020304" charset="0"/>
                          <a:cs typeface="Times New Roman" panose="02020603050405020304" charset="0"/>
                        </a:rPr>
                        <a:t>Title of the paper</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c>
                  <a:txBody>
                    <a:bodyPr/>
                    <a:lstStyle/>
                    <a:p>
                      <a:pPr lvl="0">
                        <a:buNone/>
                      </a:pPr>
                      <a:r>
                        <a:rPr lang="en-US" sz="1600" b="1" i="0" u="none" strike="noStrike" noProof="0" dirty="0">
                          <a:solidFill>
                            <a:srgbClr val="FFFFFF"/>
                          </a:solidFill>
                          <a:latin typeface="Times New Roman" panose="02020603050405020304" charset="0"/>
                          <a:cs typeface="Times New Roman" panose="02020603050405020304" charset="0"/>
                        </a:rPr>
                        <a:t>Author and year</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c>
                  <a:txBody>
                    <a:bodyPr/>
                    <a:lstStyle/>
                    <a:p>
                      <a:pPr lvl="0">
                        <a:buNone/>
                      </a:pPr>
                      <a:r>
                        <a:rPr lang="en-US" sz="1600" b="1" i="0" u="none" strike="noStrike" noProof="0" dirty="0">
                          <a:solidFill>
                            <a:srgbClr val="FFFFFF"/>
                          </a:solidFill>
                          <a:latin typeface="Times New Roman" panose="02020603050405020304" charset="0"/>
                          <a:cs typeface="Times New Roman" panose="02020603050405020304" charset="0"/>
                        </a:rPr>
                        <a:t>Dataset used</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c>
                  <a:txBody>
                    <a:bodyPr/>
                    <a:lstStyle/>
                    <a:p>
                      <a:pPr lvl="0">
                        <a:buNone/>
                      </a:pPr>
                      <a:r>
                        <a:rPr lang="en-US" sz="1600" b="1" i="0" u="none" strike="noStrike" noProof="0" dirty="0">
                          <a:solidFill>
                            <a:srgbClr val="FFFFFF"/>
                          </a:solidFill>
                          <a:latin typeface="Times New Roman" panose="02020603050405020304" charset="0"/>
                          <a:cs typeface="Times New Roman" panose="02020603050405020304" charset="0"/>
                        </a:rPr>
                        <a:t>Findings</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c>
                  <a:txBody>
                    <a:bodyPr/>
                    <a:lstStyle/>
                    <a:p>
                      <a:pPr lvl="0">
                        <a:buNone/>
                      </a:pPr>
                      <a:endParaRPr lang="en-US" sz="1600" b="1" i="0" u="none" strike="noStrike" noProof="0" dirty="0">
                        <a:solidFill>
                          <a:srgbClr val="FFFFFF"/>
                        </a:solidFill>
                        <a:latin typeface="Times New Roman" panose="02020603050405020304" charset="0"/>
                        <a:cs typeface="Times New Roman" panose="02020603050405020304" charset="0"/>
                      </a:endParaRPr>
                    </a:p>
                    <a:p>
                      <a:pPr lvl="0">
                        <a:buNone/>
                      </a:pPr>
                      <a:r>
                        <a:rPr lang="en-US" sz="1600" b="1" i="0" u="none" strike="noStrike" noProof="0" dirty="0">
                          <a:solidFill>
                            <a:srgbClr val="FFFFFF"/>
                          </a:solidFill>
                          <a:latin typeface="Times New Roman" panose="02020603050405020304" charset="0"/>
                          <a:cs typeface="Times New Roman" panose="02020603050405020304" charset="0"/>
                        </a:rPr>
                        <a:t>Limitations</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c>
                  <a:txBody>
                    <a:bodyPr/>
                    <a:lstStyle/>
                    <a:p>
                      <a:pPr lvl="0">
                        <a:buNone/>
                      </a:pPr>
                      <a:r>
                        <a:rPr lang="en-US" sz="1600" b="1" i="0" u="none" strike="noStrike" noProof="0" dirty="0">
                          <a:solidFill>
                            <a:srgbClr val="FFFFFF"/>
                          </a:solidFill>
                          <a:latin typeface="Times New Roman" panose="02020603050405020304" charset="0"/>
                          <a:cs typeface="Times New Roman" panose="02020603050405020304" charset="0"/>
                        </a:rPr>
                        <a:t>Summary</a:t>
                      </a:r>
                      <a:endParaRPr lang="en-US" sz="1600" b="1" i="0" u="none" strike="noStrike" noProof="0" dirty="0">
                        <a:solidFill>
                          <a:srgbClr val="FFFFFF"/>
                        </a:solidFill>
                        <a:latin typeface="Times New Roman" panose="02020603050405020304" charset="0"/>
                        <a:cs typeface="Times New Roman" panose="02020603050405020304" charset="0"/>
                      </a:endParaRPr>
                    </a:p>
                  </a:txBody>
                  <a:tcPr/>
                </a:tc>
              </a:tr>
              <a:tr h="1312545">
                <a:tc>
                  <a:txBody>
                    <a:bodyPr/>
                    <a:lstStyle/>
                    <a:p>
                      <a:pPr lvl="0">
                        <a:buNone/>
                      </a:pPr>
                      <a:r>
                        <a:rPr lang="en-US" sz="1600" b="0" i="0" u="none" strike="noStrike" noProof="0" dirty="0">
                          <a:latin typeface="Times New Roman" panose="02020603050405020304" charset="0"/>
                          <a:cs typeface="Times New Roman" panose="02020603050405020304" charset="0"/>
                        </a:rPr>
                        <a:t>Intelligent Crop Recommendation Using Ensemble Learning</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Patel &amp; Singh, 2022</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Kaggle Crop Recommendation Dataset; ~2,200 samples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Ensemble voting improved consistency across models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Increased computational complexity; harder to interpret model behavior.</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Demonstrated that combining models leads to improved overall reliability.</a:t>
                      </a:r>
                      <a:endParaRPr lang="en-US" sz="1600" b="0" i="0" u="none" strike="noStrike" noProof="0" dirty="0">
                        <a:latin typeface="Times New Roman" panose="02020603050405020304" charset="0"/>
                        <a:cs typeface="Times New Roman" panose="02020603050405020304" charset="0"/>
                      </a:endParaRPr>
                    </a:p>
                  </a:txBody>
                  <a:tcPr/>
                </a:tc>
              </a:tr>
              <a:tr h="1313180">
                <a:tc>
                  <a:txBody>
                    <a:bodyPr/>
                    <a:lstStyle/>
                    <a:p>
                      <a:pPr lvl="0">
                        <a:buNone/>
                      </a:pPr>
                      <a:r>
                        <a:rPr lang="en-US" sz="1600" b="0" i="0" u="none" strike="noStrike" noProof="0" dirty="0">
                          <a:latin typeface="Times New Roman" panose="02020603050405020304" charset="0"/>
                          <a:cs typeface="Times New Roman" panose="02020603050405020304" charset="0"/>
                        </a:rPr>
                        <a:t>Field-Based Disease Classification Using CNNs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Pérez et al., 2019</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err="1">
                          <a:latin typeface="Times New Roman" panose="02020603050405020304" charset="0"/>
                          <a:cs typeface="Times New Roman" panose="02020603050405020304" charset="0"/>
                        </a:rPr>
                        <a:t>Digipathos</a:t>
                      </a:r>
                      <a:endParaRPr lang="en-US" sz="1600" b="0" i="0" u="none" strike="noStrike" noProof="0" dirty="0" err="1">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Robustness testing on natural field images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Limited crop variety, occlusion, noise, low number of classes complicate detection</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Useful for testing robustness under real-world conditions</a:t>
                      </a:r>
                      <a:endParaRPr lang="en-US" sz="1600" b="0" i="0" u="none" strike="noStrike" noProof="0" dirty="0">
                        <a:latin typeface="Times New Roman" panose="02020603050405020304" charset="0"/>
                        <a:cs typeface="Times New Roman" panose="02020603050405020304" charset="0"/>
                      </a:endParaRPr>
                    </a:p>
                  </a:txBody>
                  <a:tcPr/>
                </a:tc>
              </a:tr>
              <a:tr h="1312545">
                <a:tc>
                  <a:txBody>
                    <a:bodyPr/>
                    <a:lstStyle/>
                    <a:p>
                      <a:pPr lvl="0">
                        <a:buNone/>
                      </a:pPr>
                      <a:r>
                        <a:rPr lang="en-US" sz="1600" b="0" i="0" u="none" strike="noStrike" noProof="0" dirty="0">
                          <a:latin typeface="Times New Roman" panose="02020603050405020304" charset="0"/>
                          <a:cs typeface="Times New Roman" panose="02020603050405020304" charset="0"/>
                        </a:rPr>
                        <a:t>Attention-Based Soybean Disease Detection</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lgn="l">
                        <a:lnSpc>
                          <a:spcPct val="100000"/>
                        </a:lnSpc>
                        <a:spcBef>
                          <a:spcPts val="0"/>
                        </a:spcBef>
                        <a:spcAft>
                          <a:spcPts val="0"/>
                        </a:spcAft>
                        <a:buNone/>
                      </a:pPr>
                      <a:r>
                        <a:rPr lang="en-US" sz="1600" dirty="0">
                          <a:latin typeface="Times New Roman" panose="02020603050405020304" charset="0"/>
                          <a:cs typeface="Times New Roman" panose="02020603050405020304" charset="0"/>
                        </a:rPr>
                        <a:t>Disease Detection</a:t>
                      </a:r>
                      <a:endParaRPr lang="en-US" sz="1600" dirty="0">
                        <a:latin typeface="Times New Roman" panose="02020603050405020304" charset="0"/>
                        <a:cs typeface="Times New Roman" panose="02020603050405020304" charset="0"/>
                      </a:endParaRPr>
                    </a:p>
                    <a:p>
                      <a:pPr lvl="0" algn="l">
                        <a:lnSpc>
                          <a:spcPct val="100000"/>
                        </a:lnSpc>
                        <a:spcBef>
                          <a:spcPts val="0"/>
                        </a:spcBef>
                        <a:spcAft>
                          <a:spcPts val="0"/>
                        </a:spcAft>
                        <a:buNone/>
                      </a:pPr>
                      <a:r>
                        <a:rPr lang="en-US" sz="1600" dirty="0">
                          <a:latin typeface="Times New Roman" panose="02020603050405020304" charset="0"/>
                          <a:cs typeface="Times New Roman" panose="02020603050405020304" charset="0"/>
                        </a:rPr>
                        <a:t>Souza et al., 2020</a:t>
                      </a:r>
                      <a:endParaRPr lang="en-US" sz="1600" dirty="0">
                        <a:latin typeface="Times New Roman" panose="02020603050405020304" charset="0"/>
                        <a:cs typeface="Times New Roman" panose="02020603050405020304" charset="0"/>
                      </a:endParaRPr>
                    </a:p>
                    <a:p>
                      <a:pPr lvl="0">
                        <a:buNone/>
                      </a:pPr>
                      <a:endParaRPr lang="en-US" sz="160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Embrapa</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Use of attention models for disease detection</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Class imbalance, low classes, domain-specific annotations limit general use</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Valuable for soybean-specific detection but less generalizable.</a:t>
                      </a:r>
                      <a:endParaRPr lang="en-US" sz="1600" b="0" i="0" u="none" strike="noStrike" noProof="0" dirty="0">
                        <a:latin typeface="Times New Roman" panose="02020603050405020304" charset="0"/>
                        <a:cs typeface="Times New Roman" panose="02020603050405020304" charset="0"/>
                      </a:endParaRPr>
                    </a:p>
                    <a:p>
                      <a:pPr lvl="0">
                        <a:buNone/>
                      </a:pPr>
                      <a:endParaRPr lang="en-US" sz="1600" b="0" i="0" u="none" strike="noStrike" noProof="0" dirty="0">
                        <a:latin typeface="Times New Roman" panose="02020603050405020304" charset="0"/>
                        <a:cs typeface="Times New Roman" panose="02020603050405020304" charset="0"/>
                      </a:endParaRPr>
                    </a:p>
                  </a:txBody>
                  <a:tcPr/>
                </a:tc>
              </a:tr>
              <a:tr h="1068705">
                <a:tc>
                  <a:txBody>
                    <a:bodyPr/>
                    <a:lstStyle/>
                    <a:p>
                      <a:pPr lvl="0">
                        <a:buNone/>
                      </a:pPr>
                      <a:r>
                        <a:rPr lang="en-US" sz="1600" b="0" i="0" u="none" strike="noStrike" noProof="0" dirty="0">
                          <a:latin typeface="Times New Roman" panose="02020603050405020304" charset="0"/>
                          <a:cs typeface="Times New Roman" panose="02020603050405020304" charset="0"/>
                        </a:rPr>
                        <a:t>Leaf Disease Classification with MobileNet &amp; </a:t>
                      </a:r>
                      <a:r>
                        <a:rPr lang="en-US" sz="1600" b="0" i="0" u="none" strike="noStrike" noProof="0" dirty="0" err="1">
                          <a:latin typeface="Times New Roman" panose="02020603050405020304" charset="0"/>
                          <a:cs typeface="Times New Roman" panose="02020603050405020304" charset="0"/>
                        </a:rPr>
                        <a:t>DenseNet</a:t>
                      </a:r>
                      <a:endParaRPr lang="en-US" sz="1600" b="0" i="0" u="none" strike="noStrike" noProof="0" dirty="0" err="1">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Zhang et al., 2018</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Mendeley Leaf Dataset</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Effective prototyping on tomato, potato, and </a:t>
                      </a:r>
                      <a:r>
                        <a:rPr lang="en-US" sz="1600" b="0" i="0" u="none" strike="noStrike" noProof="0" dirty="0" err="1">
                          <a:latin typeface="Times New Roman" panose="02020603050405020304" charset="0"/>
                          <a:cs typeface="Times New Roman" panose="02020603050405020304" charset="0"/>
                        </a:rPr>
                        <a:t>peppe</a:t>
                      </a:r>
                      <a:endParaRPr lang="en-US" sz="1600" b="0" i="0" u="none" strike="noStrike" noProof="0" dirty="0" err="1">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Suitable for prototyping; no major reported limitations</a:t>
                      </a:r>
                      <a:endParaRPr lang="en-US" sz="1600" b="0" i="0" u="none" strike="noStrike" noProof="0" dirty="0">
                        <a:latin typeface="Times New Roman" panose="02020603050405020304" charset="0"/>
                        <a:cs typeface="Times New Roman" panose="02020603050405020304" charset="0"/>
                      </a:endParaRPr>
                    </a:p>
                  </a:txBody>
                  <a:tcPr/>
                </a:tc>
                <a:tc>
                  <a:txBody>
                    <a:bodyPr/>
                    <a:lstStyle/>
                    <a:p>
                      <a:pPr lvl="0">
                        <a:buNone/>
                      </a:pPr>
                      <a:r>
                        <a:rPr lang="en-US" sz="1600" b="0" i="0" u="none" strike="noStrike" noProof="0" dirty="0">
                          <a:latin typeface="Times New Roman" panose="02020603050405020304" charset="0"/>
                          <a:cs typeface="Times New Roman" panose="02020603050405020304" charset="0"/>
                        </a:rPr>
                        <a:t>Good dataset for prototyping and academic research on key crops.</a:t>
                      </a:r>
                      <a:endParaRPr lang="en-US" sz="1600" b="0" i="0" u="none" strike="noStrike" noProof="0" dirty="0">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7071"/>
          </a:xfrm>
        </p:spPr>
        <p:txBody>
          <a:bodyPr>
            <a:normAutofit fontScale="90000"/>
          </a:bodyPr>
          <a:lstStyle/>
          <a:p>
            <a:br>
              <a:rPr lang="en-US" sz="3110" dirty="0">
                <a:latin typeface="Times New Roman" panose="02020603050405020304" charset="0"/>
                <a:cs typeface="Times New Roman" panose="02020603050405020304" charset="0"/>
              </a:rPr>
            </a:br>
            <a:br>
              <a:rPr lang="en-US" sz="3110" dirty="0">
                <a:latin typeface="Times New Roman" panose="02020603050405020304" charset="0"/>
                <a:cs typeface="Times New Roman" panose="02020603050405020304" charset="0"/>
              </a:rPr>
            </a:br>
            <a:br>
              <a:rPr lang="en-US" sz="3110" dirty="0">
                <a:latin typeface="Times New Roman" panose="02020603050405020304" charset="0"/>
                <a:cs typeface="Times New Roman" panose="02020603050405020304" charset="0"/>
              </a:rPr>
            </a:br>
            <a:r>
              <a:rPr lang="en-US" sz="3110" u="sng" dirty="0">
                <a:latin typeface="Times New Roman" panose="02020603050405020304" charset="0"/>
                <a:cs typeface="Times New Roman" panose="02020603050405020304" charset="0"/>
              </a:rPr>
              <a:t>Problem Identification</a:t>
            </a:r>
            <a:endParaRPr lang="en-US" sz="3110" u="sng" dirty="0">
              <a:latin typeface="Times New Roman" panose="02020603050405020304" charset="0"/>
              <a:cs typeface="Times New Roman" panose="02020603050405020304" charset="0"/>
            </a:endParaRPr>
          </a:p>
        </p:txBody>
      </p:sp>
      <p:sp>
        <p:nvSpPr>
          <p:cNvPr id="3" name="Text Placeholder 2"/>
          <p:cNvSpPr>
            <a:spLocks noGrp="1"/>
          </p:cNvSpPr>
          <p:nvPr>
            <p:ph type="body" idx="1"/>
          </p:nvPr>
        </p:nvSpPr>
        <p:spPr>
          <a:xfrm>
            <a:off x="838200" y="1542415"/>
            <a:ext cx="10515600" cy="4634230"/>
          </a:xfrm>
        </p:spPr>
        <p:txBody>
          <a:bodyPr>
            <a:normAutofit/>
          </a:bodyPr>
          <a:lstStyle/>
          <a:p>
            <a:pPr algn="just">
              <a:lnSpc>
                <a:spcPct val="150000"/>
              </a:lnSpc>
            </a:pPr>
            <a:r>
              <a:rPr lang="en-US" sz="1500" b="1" dirty="0">
                <a:latin typeface="Times New Roman" panose="02020603050405020304" charset="0"/>
                <a:cs typeface="Times New Roman" panose="02020603050405020304" charset="0"/>
              </a:rPr>
              <a:t>Data Quality and Availability</a:t>
            </a:r>
            <a:r>
              <a:rPr lang="en-US" sz="1500" dirty="0">
                <a:latin typeface="Times New Roman" panose="02020603050405020304" charset="0"/>
                <a:cs typeface="Times New Roman" panose="02020603050405020304" charset="0"/>
              </a:rPr>
              <a:t>: Incomplete or inaccurate soil, weather, and crop data limit recommendation accuracy.</a:t>
            </a:r>
            <a:endParaRPr lang="en-US" sz="1500" dirty="0">
              <a:latin typeface="Times New Roman" panose="02020603050405020304" charset="0"/>
              <a:cs typeface="Times New Roman" panose="02020603050405020304" charset="0"/>
            </a:endParaRPr>
          </a:p>
          <a:p>
            <a:pPr algn="just">
              <a:lnSpc>
                <a:spcPct val="150000"/>
              </a:lnSpc>
            </a:pPr>
            <a:r>
              <a:rPr lang="en-US" sz="1500" b="1" dirty="0">
                <a:latin typeface="Times New Roman" panose="02020603050405020304" charset="0"/>
                <a:cs typeface="Times New Roman" panose="02020603050405020304" charset="0"/>
              </a:rPr>
              <a:t>Limited Real-World </a:t>
            </a:r>
            <a:r>
              <a:rPr lang="en-US" sz="1500" b="1" dirty="0" err="1">
                <a:latin typeface="Times New Roman" panose="02020603050405020304" charset="0"/>
                <a:cs typeface="Times New Roman" panose="02020603050405020304" charset="0"/>
              </a:rPr>
              <a:t>Robustnes</a:t>
            </a:r>
            <a:r>
              <a:rPr lang="en-US" sz="1500" dirty="0" err="1">
                <a:latin typeface="Times New Roman" panose="02020603050405020304" charset="0"/>
                <a:cs typeface="Times New Roman" panose="02020603050405020304" charset="0"/>
              </a:rPr>
              <a:t>:Models</a:t>
            </a:r>
            <a:r>
              <a:rPr lang="en-US" sz="1500" dirty="0">
                <a:latin typeface="Times New Roman" panose="02020603050405020304" charset="0"/>
                <a:cs typeface="Times New Roman" panose="02020603050405020304" charset="0"/>
              </a:rPr>
              <a:t> trained on ideal datasets often fail to generalize under field conditions with variations in lighting, background clutter, leaf occlusions, and camera angles</a:t>
            </a:r>
            <a:endParaRPr lang="en-US" sz="1500" dirty="0">
              <a:latin typeface="Times New Roman" panose="02020603050405020304" charset="0"/>
              <a:cs typeface="Times New Roman" panose="02020603050405020304" charset="0"/>
            </a:endParaRPr>
          </a:p>
          <a:p>
            <a:pPr algn="just">
              <a:lnSpc>
                <a:spcPct val="150000"/>
              </a:lnSpc>
            </a:pPr>
            <a:r>
              <a:rPr lang="en-US" sz="1500" b="1" dirty="0">
                <a:latin typeface="Times New Roman" panose="02020603050405020304" charset="0"/>
                <a:cs typeface="Times New Roman" panose="02020603050405020304" charset="0"/>
              </a:rPr>
              <a:t>Model Limitations</a:t>
            </a:r>
            <a:r>
              <a:rPr lang="en-US" sz="1500" dirty="0">
                <a:latin typeface="Times New Roman" panose="02020603050405020304" charset="0"/>
                <a:cs typeface="Times New Roman" panose="02020603050405020304" charset="0"/>
              </a:rPr>
              <a:t>: Simplified models often fail to capture complex agricultural interactions.</a:t>
            </a:r>
            <a:endParaRPr lang="en-US" sz="1500" dirty="0">
              <a:latin typeface="Times New Roman" panose="02020603050405020304" charset="0"/>
              <a:cs typeface="Times New Roman" panose="02020603050405020304" charset="0"/>
            </a:endParaRPr>
          </a:p>
          <a:p>
            <a:pPr algn="just">
              <a:lnSpc>
                <a:spcPct val="150000"/>
              </a:lnSpc>
            </a:pPr>
            <a:r>
              <a:rPr lang="en-US" sz="1500" b="1" dirty="0">
                <a:latin typeface="Times New Roman" panose="02020603050405020304" charset="0"/>
                <a:cs typeface="Times New Roman" panose="02020603050405020304" charset="0"/>
              </a:rPr>
              <a:t>Farmer Adoption and Usability</a:t>
            </a:r>
            <a:r>
              <a:rPr lang="en-US" sz="1500" dirty="0">
                <a:latin typeface="Times New Roman" panose="02020603050405020304" charset="0"/>
                <a:cs typeface="Times New Roman" panose="02020603050405020304" charset="0"/>
              </a:rPr>
              <a:t>: Limited tech access and trust hinder system usage by farmers.</a:t>
            </a:r>
            <a:endParaRPr lang="en-US" sz="1500" dirty="0">
              <a:latin typeface="Times New Roman" panose="02020603050405020304" charset="0"/>
              <a:cs typeface="Times New Roman" panose="02020603050405020304" charset="0"/>
            </a:endParaRPr>
          </a:p>
          <a:p>
            <a:pPr algn="just">
              <a:lnSpc>
                <a:spcPct val="150000"/>
              </a:lnSpc>
            </a:pPr>
            <a:r>
              <a:rPr lang="en-US" sz="1500" b="1" dirty="0">
                <a:latin typeface="Times New Roman" panose="02020603050405020304" charset="0"/>
                <a:cs typeface="Times New Roman" panose="02020603050405020304" charset="0"/>
              </a:rPr>
              <a:t>Lack of Real-Time Feedback Systems </a:t>
            </a:r>
            <a:r>
              <a:rPr lang="en-US" sz="1500" dirty="0">
                <a:latin typeface="Times New Roman" panose="02020603050405020304" charset="0"/>
                <a:cs typeface="Times New Roman" panose="02020603050405020304" charset="0"/>
              </a:rPr>
              <a:t>:Many models operate offline or post-capture; integrating real-time feedback systems for farmers remains a challenge in mobile deployment.</a:t>
            </a:r>
            <a:endParaRPr lang="en-US" sz="1500" dirty="0">
              <a:latin typeface="Times New Roman" panose="02020603050405020304" charset="0"/>
              <a:cs typeface="Times New Roman" panose="02020603050405020304" charset="0"/>
            </a:endParaRPr>
          </a:p>
        </p:txBody>
      </p:sp>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3540"/>
            <a:ext cx="10515600" cy="831850"/>
          </a:xfrm>
        </p:spPr>
        <p:txBody>
          <a:bodyPr>
            <a:normAutofit fontScale="90000"/>
          </a:bodyPr>
          <a:lstStyle/>
          <a:p>
            <a:br>
              <a:rPr lang="en-US" dirty="0"/>
            </a:br>
            <a:br>
              <a:rPr lang="en-US" dirty="0"/>
            </a:br>
            <a:r>
              <a:rPr lang="en-US" sz="3110" u="sng" dirty="0">
                <a:latin typeface="Times New Roman" panose="02020603050405020304" charset="0"/>
                <a:cs typeface="Times New Roman" panose="02020603050405020304" charset="0"/>
                <a:sym typeface="+mn-ea"/>
              </a:rPr>
              <a:t>Dataset Description</a:t>
            </a:r>
            <a:br>
              <a:rPr lang="en-US" dirty="0"/>
            </a:br>
            <a:endParaRPr lang="en-US" sz="2220" b="1" dirty="0">
              <a:latin typeface="Times New Roman" panose="02020603050405020304" charset="0"/>
              <a:cs typeface="Times New Roman" panose="02020603050405020304" charset="0"/>
            </a:endParaRPr>
          </a:p>
        </p:txBody>
      </p:sp>
      <p:sp>
        <p:nvSpPr>
          <p:cNvPr id="3" name="Text Placeholder 2"/>
          <p:cNvSpPr>
            <a:spLocks noGrp="1"/>
          </p:cNvSpPr>
          <p:nvPr>
            <p:ph type="body" idx="1"/>
          </p:nvPr>
        </p:nvSpPr>
        <p:spPr>
          <a:xfrm>
            <a:off x="838200" y="1215390"/>
            <a:ext cx="10515600" cy="4801235"/>
          </a:xfrm>
        </p:spPr>
        <p:txBody>
          <a:bodyPr>
            <a:noAutofit/>
          </a:bodyPr>
          <a:lstStyle/>
          <a:p>
            <a:pPr marL="114300" indent="0">
              <a:buNone/>
            </a:pPr>
            <a:endParaRPr lang="en-US" sz="1200" dirty="0"/>
          </a:p>
          <a:p>
            <a:pPr marL="114300" indent="0">
              <a:lnSpc>
                <a:spcPct val="100000"/>
              </a:lnSpc>
              <a:buNone/>
            </a:pPr>
            <a:r>
              <a:rPr lang="en-US" sz="1600" b="1" dirty="0">
                <a:latin typeface="Times New Roman" panose="02020603050405020304" charset="0"/>
                <a:cs typeface="Times New Roman" panose="02020603050405020304" charset="0"/>
                <a:sym typeface="+mn-ea"/>
              </a:rPr>
              <a:t>Crop disease detection</a:t>
            </a:r>
            <a:endParaRPr lang="en-US" sz="1600" b="1"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The dataset contains approximately 112k images of crop leaves.</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It includes 33 classes, covering both healthy and diseased plants.</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Crops represented include </a:t>
            </a:r>
            <a:r>
              <a:rPr lang="en-US" sz="1500" b="1" dirty="0">
                <a:latin typeface="Times New Roman" panose="02020603050405020304" charset="0"/>
                <a:cs typeface="Times New Roman" panose="02020603050405020304" charset="0"/>
              </a:rPr>
              <a:t>[list of crops, e.g., Apple, Tomato, Potato, etc.]</a:t>
            </a:r>
            <a:r>
              <a:rPr lang="en-US" sz="1500" dirty="0">
                <a:latin typeface="Times New Roman" panose="02020603050405020304" charset="0"/>
                <a:cs typeface="Times New Roman" panose="02020603050405020304" charset="0"/>
              </a:rPr>
              <a:t>.</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Diseases covered include </a:t>
            </a:r>
            <a:r>
              <a:rPr lang="en-US" sz="1500" b="1" dirty="0">
                <a:latin typeface="Times New Roman" panose="02020603050405020304" charset="0"/>
                <a:cs typeface="Times New Roman" panose="02020603050405020304" charset="0"/>
              </a:rPr>
              <a:t>[list of common diseases, e.g., late blight, rust, leaf spot, etc.]</a:t>
            </a:r>
            <a:r>
              <a:rPr lang="en-US" sz="1500" dirty="0">
                <a:latin typeface="Times New Roman" panose="02020603050405020304" charset="0"/>
                <a:cs typeface="Times New Roman" panose="02020603050405020304" charset="0"/>
              </a:rPr>
              <a:t>.</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Images are standardized to a size of </a:t>
            </a:r>
            <a:r>
              <a:rPr lang="en-US" sz="1500" b="1" dirty="0">
                <a:latin typeface="Times New Roman" panose="02020603050405020304" charset="0"/>
                <a:cs typeface="Times New Roman" panose="02020603050405020304" charset="0"/>
              </a:rPr>
              <a:t>224 x 224 pixels</a:t>
            </a:r>
            <a:r>
              <a:rPr lang="en-US" sz="1500" dirty="0">
                <a:latin typeface="Times New Roman" panose="02020603050405020304" charset="0"/>
                <a:cs typeface="Times New Roman" panose="02020603050405020304" charset="0"/>
              </a:rPr>
              <a:t> for uniform processing during model training.</a:t>
            </a:r>
            <a:br>
              <a:rPr lang="en-US" sz="1500" dirty="0">
                <a:latin typeface="Times New Roman" panose="02020603050405020304" charset="0"/>
                <a:cs typeface="Times New Roman" panose="02020603050405020304" charset="0"/>
              </a:rPr>
            </a:br>
            <a:endParaRPr lang="en-US" sz="1500" dirty="0">
              <a:latin typeface="Times New Roman" panose="02020603050405020304" charset="0"/>
              <a:cs typeface="Times New Roman" panose="02020603050405020304" charset="0"/>
            </a:endParaRPr>
          </a:p>
          <a:p>
            <a:pPr marL="114300" indent="0" algn="just">
              <a:lnSpc>
                <a:spcPct val="100000"/>
              </a:lnSpc>
              <a:buNone/>
            </a:pPr>
            <a:r>
              <a:rPr lang="en-US" sz="1600" b="1" dirty="0">
                <a:latin typeface="Times New Roman" panose="02020603050405020304" charset="0"/>
                <a:cs typeface="Times New Roman" panose="02020603050405020304" charset="0"/>
              </a:rPr>
              <a:t>Crop recommendation</a:t>
            </a:r>
            <a:endParaRPr lang="en-US" sz="1600" b="1"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This is a </a:t>
            </a:r>
            <a:r>
              <a:rPr lang="en-US" sz="1500" b="1" dirty="0">
                <a:latin typeface="Times New Roman" panose="02020603050405020304" charset="0"/>
                <a:cs typeface="Times New Roman" panose="02020603050405020304" charset="0"/>
              </a:rPr>
              <a:t>custom-made dataset</a:t>
            </a:r>
            <a:r>
              <a:rPr lang="en-US" sz="1500" dirty="0">
                <a:latin typeface="Times New Roman" panose="02020603050405020304" charset="0"/>
                <a:cs typeface="Times New Roman" panose="02020603050405020304" charset="0"/>
              </a:rPr>
              <a:t> compiled by integrating data from </a:t>
            </a:r>
            <a:r>
              <a:rPr lang="en-US" sz="1500" b="1" dirty="0">
                <a:latin typeface="Times New Roman" panose="02020603050405020304" charset="0"/>
                <a:cs typeface="Times New Roman" panose="02020603050405020304" charset="0"/>
              </a:rPr>
              <a:t>Mendeley</a:t>
            </a:r>
            <a:r>
              <a:rPr lang="en-US" sz="1500" dirty="0">
                <a:latin typeface="Times New Roman" panose="02020603050405020304" charset="0"/>
                <a:cs typeface="Times New Roman" panose="02020603050405020304" charset="0"/>
              </a:rPr>
              <a:t> and </a:t>
            </a:r>
            <a:r>
              <a:rPr lang="en-US" sz="1500" b="1" dirty="0">
                <a:latin typeface="Times New Roman" panose="02020603050405020304" charset="0"/>
                <a:cs typeface="Times New Roman" panose="02020603050405020304" charset="0"/>
              </a:rPr>
              <a:t>Kaggle</a:t>
            </a:r>
            <a:r>
              <a:rPr lang="en-US" sz="1500" dirty="0">
                <a:latin typeface="Times New Roman" panose="02020603050405020304" charset="0"/>
                <a:cs typeface="Times New Roman" panose="02020603050405020304" charset="0"/>
              </a:rPr>
              <a:t> repositories, tailored specifically for crop recommendation purposes.</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Each sample includes </a:t>
            </a:r>
            <a:r>
              <a:rPr lang="en-US" sz="1500" b="1" dirty="0">
                <a:latin typeface="Times New Roman" panose="02020603050405020304" charset="0"/>
                <a:cs typeface="Times New Roman" panose="02020603050405020304" charset="0"/>
              </a:rPr>
              <a:t>soil parameters</a:t>
            </a:r>
            <a:r>
              <a:rPr lang="en-US" sz="1500" dirty="0">
                <a:latin typeface="Times New Roman" panose="02020603050405020304" charset="0"/>
                <a:cs typeface="Times New Roman" panose="02020603050405020304" charset="0"/>
              </a:rPr>
              <a:t> such as pH, nitrogen (N), phosphorus (P), potassium (K) levels and temperature.</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Additionally, </a:t>
            </a:r>
            <a:r>
              <a:rPr lang="en-US" sz="1500" b="1" dirty="0">
                <a:latin typeface="Times New Roman" panose="02020603050405020304" charset="0"/>
                <a:cs typeface="Times New Roman" panose="02020603050405020304" charset="0"/>
              </a:rPr>
              <a:t>weather data</a:t>
            </a:r>
            <a:r>
              <a:rPr lang="en-US" sz="1500" dirty="0">
                <a:latin typeface="Times New Roman" panose="02020603050405020304" charset="0"/>
                <a:cs typeface="Times New Roman" panose="02020603050405020304" charset="0"/>
              </a:rPr>
              <a:t> such as rainfall, humidity, and average temperature for the region is included.</a:t>
            </a:r>
            <a:endParaRPr lang="en-US" sz="1500" dirty="0">
              <a:latin typeface="Times New Roman" panose="02020603050405020304" charset="0"/>
              <a:cs typeface="Times New Roman" panose="02020603050405020304" charset="0"/>
            </a:endParaRPr>
          </a:p>
          <a:p>
            <a:pPr algn="just">
              <a:lnSpc>
                <a:spcPct val="100000"/>
              </a:lnSpc>
            </a:pPr>
            <a:r>
              <a:rPr lang="en-US" sz="1500" dirty="0">
                <a:latin typeface="Times New Roman" panose="02020603050405020304" charset="0"/>
                <a:cs typeface="Times New Roman" panose="02020603050405020304" charset="0"/>
              </a:rPr>
              <a:t>The dataset features </a:t>
            </a:r>
            <a:r>
              <a:rPr lang="en-US" sz="1500" b="1" dirty="0">
                <a:latin typeface="Times New Roman" panose="02020603050405020304" charset="0"/>
                <a:cs typeface="Times New Roman" panose="02020603050405020304" charset="0"/>
              </a:rPr>
              <a:t>multiple crop types</a:t>
            </a:r>
            <a:r>
              <a:rPr lang="en-US" sz="1500" dirty="0">
                <a:latin typeface="Times New Roman" panose="02020603050405020304" charset="0"/>
                <a:cs typeface="Times New Roman" panose="02020603050405020304" charset="0"/>
              </a:rPr>
              <a:t> that are commonly cultivated in the region, such as rice, wheat, maize, sugarcane, cotton, and pulses. </a:t>
            </a:r>
            <a:r>
              <a:rPr lang="en-US" sz="1500" dirty="0" err="1">
                <a:latin typeface="Times New Roman" panose="02020603050405020304" charset="0"/>
                <a:cs typeface="Times New Roman" panose="02020603050405020304" charset="0"/>
              </a:rPr>
              <a:t>etc</a:t>
            </a:r>
            <a:endParaRPr lang="en-US" sz="1500" dirty="0" err="1">
              <a:latin typeface="Times New Roman" panose="02020603050405020304" charset="0"/>
              <a:cs typeface="Times New Roman" panose="02020603050405020304" charset="0"/>
            </a:endParaRPr>
          </a:p>
        </p:txBody>
      </p:sp>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5" name="Google Shape;125;p18"/>
          <p:cNvSpPr/>
          <p:nvPr/>
        </p:nvSpPr>
        <p:spPr>
          <a:xfrm>
            <a:off x="450850" y="401955"/>
            <a:ext cx="11520170" cy="729615"/>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dirty="0">
                <a:solidFill>
                  <a:schemeClr val="accent5">
                    <a:lumMod val="75000"/>
                  </a:schemeClr>
                </a:solidFill>
              </a:rPr>
              <a:t>	Proposed Design of Product</a:t>
            </a:r>
            <a:endParaRPr sz="2800" dirty="0">
              <a:solidFill>
                <a:schemeClr val="accent5">
                  <a:lumMod val="75000"/>
                </a:schemeClr>
              </a:solidFill>
              <a:latin typeface="Calibri" panose="020F0502020204030204"/>
              <a:ea typeface="Calibri" panose="020F0502020204030204"/>
              <a:cs typeface="Calibri" panose="020F0502020204030204"/>
              <a:sym typeface="Calibri" panose="020F0502020204030204"/>
            </a:endParaRPr>
          </a:p>
        </p:txBody>
      </p:sp>
      <p:sp>
        <p:nvSpPr>
          <p:cNvPr id="3" name="Text Placeholder 2"/>
          <p:cNvSpPr>
            <a:spLocks noGrp="1"/>
          </p:cNvSpPr>
          <p:nvPr>
            <p:ph type="body" idx="1"/>
          </p:nvPr>
        </p:nvSpPr>
        <p:spPr>
          <a:xfrm>
            <a:off x="450850" y="1424305"/>
            <a:ext cx="10902950" cy="5165090"/>
          </a:xfrm>
        </p:spPr>
        <p:txBody>
          <a:bodyPr>
            <a:normAutofit/>
          </a:bodyPr>
          <a:lstStyle/>
          <a:p>
            <a:pPr marL="114300" indent="0">
              <a:lnSpc>
                <a:spcPct val="150000"/>
              </a:lnSpc>
              <a:buNone/>
            </a:pPr>
            <a:r>
              <a:rPr lang="en-US" altLang="en-GB" sz="1400" b="1" dirty="0">
                <a:latin typeface="Times New Roman" panose="02020603050405020304" charset="0"/>
                <a:cs typeface="Times New Roman" panose="02020603050405020304" charset="0"/>
              </a:rPr>
              <a:t>Crop Recommendation Module:</a:t>
            </a:r>
            <a:r>
              <a:rPr lang="en-IN" altLang="en-US" sz="1400" dirty="0">
                <a:latin typeface="Times New Roman" panose="02020603050405020304" charset="0"/>
                <a:cs typeface="Times New Roman" panose="02020603050405020304" charset="0"/>
              </a:rPr>
              <a:t>Recommeneds crops on basis of soil and weather data</a:t>
            </a:r>
            <a:endParaRPr lang="en-US" altLang="en-GB" sz="1400" b="1" dirty="0">
              <a:latin typeface="Times New Roman" panose="02020603050405020304" charset="0"/>
              <a:cs typeface="Times New Roman" panose="02020603050405020304" charset="0"/>
            </a:endParaRPr>
          </a:p>
          <a:p>
            <a:pPr marL="114300" indent="0">
              <a:lnSpc>
                <a:spcPct val="150000"/>
              </a:lnSpc>
              <a:buNone/>
            </a:pPr>
            <a:r>
              <a:rPr lang="en-US" altLang="en-GB" sz="1400" b="1" dirty="0">
                <a:latin typeface="Times New Roman" panose="02020603050405020304" charset="0"/>
                <a:cs typeface="Times New Roman" panose="02020603050405020304" charset="0"/>
              </a:rPr>
              <a:t>Plant Disease</a:t>
            </a:r>
            <a:r>
              <a:rPr lang="en-US" altLang="en-GB" sz="1400" dirty="0">
                <a:latin typeface="Times New Roman" panose="02020603050405020304" charset="0"/>
                <a:cs typeface="Times New Roman" panose="02020603050405020304" charset="0"/>
              </a:rPr>
              <a:t> </a:t>
            </a:r>
            <a:r>
              <a:rPr lang="en-US" altLang="en-GB" sz="1400" b="1" dirty="0">
                <a:latin typeface="Times New Roman" panose="02020603050405020304" charset="0"/>
                <a:cs typeface="Times New Roman" panose="02020603050405020304" charset="0"/>
              </a:rPr>
              <a:t>Detection </a:t>
            </a:r>
            <a:r>
              <a:rPr lang="en-US" altLang="en-GB" sz="1400" b="1" dirty="0">
                <a:latin typeface="Times New Roman" panose="02020603050405020304" charset="0"/>
                <a:cs typeface="Times New Roman" panose="02020603050405020304" charset="0"/>
              </a:rPr>
              <a:t>Module:</a:t>
            </a:r>
            <a:r>
              <a:rPr lang="en-US" altLang="en-GB" sz="1400" dirty="0">
                <a:latin typeface="Times New Roman" panose="02020603050405020304" charset="0"/>
                <a:cs typeface="Times New Roman" panose="02020603050405020304" charset="0"/>
              </a:rPr>
              <a:t>Detects diseases in plants by analyzing images of their leaves and highlights the affected areas</a:t>
            </a:r>
            <a:r>
              <a:rPr lang="en-US" altLang="en-GB" sz="1200" dirty="0">
                <a:latin typeface="Times New Roman" panose="02020603050405020304" charset="0"/>
                <a:cs typeface="Times New Roman" panose="02020603050405020304" charset="0"/>
              </a:rPr>
              <a:t>.</a:t>
            </a:r>
            <a:endParaRPr lang="en-US" altLang="en-GB" sz="1200" dirty="0">
              <a:latin typeface="Times New Roman" panose="02020603050405020304" charset="0"/>
              <a:cs typeface="Times New Roman" panose="02020603050405020304" charset="0"/>
            </a:endParaRPr>
          </a:p>
          <a:p>
            <a:pPr marL="114300" indent="0">
              <a:lnSpc>
                <a:spcPct val="150000"/>
              </a:lnSpc>
              <a:buNone/>
            </a:pPr>
            <a:r>
              <a:rPr lang="en-US" altLang="en-GB" sz="1400" b="1" dirty="0">
                <a:latin typeface="Times New Roman" panose="02020603050405020304" charset="0"/>
                <a:cs typeface="Times New Roman" panose="02020603050405020304" charset="0"/>
              </a:rPr>
              <a:t>Weather Dashboard</a:t>
            </a:r>
            <a:r>
              <a:rPr lang="en-US" altLang="en-GB" sz="1400" dirty="0">
                <a:latin typeface="Times New Roman" panose="02020603050405020304" charset="0"/>
                <a:cs typeface="Times New Roman" panose="02020603050405020304" charset="0"/>
              </a:rPr>
              <a:t>: Delivers real-time, location-based weather forecasts to help plan irrigation, planting, and harvesting.</a:t>
            </a:r>
            <a:endParaRPr lang="en-US" altLang="en-GB" sz="1400" dirty="0">
              <a:latin typeface="Times New Roman" panose="02020603050405020304" charset="0"/>
              <a:cs typeface="Times New Roman" panose="02020603050405020304" charset="0"/>
            </a:endParaRPr>
          </a:p>
          <a:p>
            <a:pPr marL="114300" indent="0">
              <a:lnSpc>
                <a:spcPct val="150000"/>
              </a:lnSpc>
              <a:buNone/>
            </a:pPr>
            <a:r>
              <a:rPr lang="en-US" altLang="en-GB" sz="1400" b="1" dirty="0">
                <a:latin typeface="Times New Roman" panose="02020603050405020304" charset="0"/>
                <a:cs typeface="Times New Roman" panose="02020603050405020304" charset="0"/>
              </a:rPr>
              <a:t>Warehouse Locator</a:t>
            </a:r>
            <a:r>
              <a:rPr lang="en-US" altLang="en-GB" sz="1400" dirty="0">
                <a:latin typeface="Times New Roman" panose="02020603050405020304" charset="0"/>
                <a:cs typeface="Times New Roman" panose="02020603050405020304" charset="0"/>
              </a:rPr>
              <a:t>: Provides a map-based interface to discover nearby storage facilities and cold chains, reducing post-harvest losses.</a:t>
            </a:r>
            <a:endParaRPr lang="en-US" altLang="en-GB" sz="1400" dirty="0">
              <a:latin typeface="Times New Roman" panose="02020603050405020304" charset="0"/>
              <a:cs typeface="Times New Roman" panose="02020603050405020304" charset="0"/>
            </a:endParaRPr>
          </a:p>
          <a:p>
            <a:pPr marL="114300" indent="0">
              <a:lnSpc>
                <a:spcPct val="150000"/>
              </a:lnSpc>
              <a:buNone/>
            </a:pPr>
            <a:r>
              <a:rPr lang="en-US" altLang="en-GB" sz="1400" b="1">
                <a:latin typeface="Times New Roman" panose="02020603050405020304" charset="0"/>
                <a:cs typeface="Times New Roman" panose="02020603050405020304" charset="0"/>
                <a:sym typeface="+mn-ea"/>
              </a:rPr>
              <a:t>Government Scheme Explorer: </a:t>
            </a:r>
            <a:r>
              <a:rPr lang="en-US" altLang="en-GB" sz="1400">
                <a:latin typeface="Times New Roman" panose="02020603050405020304" charset="0"/>
                <a:cs typeface="Times New Roman" panose="02020603050405020304" charset="0"/>
                <a:sym typeface="+mn-ea"/>
              </a:rPr>
              <a:t>Offers an interactive card-based display of current agricultural schemes, subsidies, and loan programs, enabling farmers to discover and apply for support.</a:t>
            </a:r>
            <a:endParaRPr lang="en-US" altLang="en-GB" sz="1400">
              <a:latin typeface="Times New Roman" panose="02020603050405020304" charset="0"/>
              <a:cs typeface="Times New Roman" panose="02020603050405020304" charset="0"/>
            </a:endParaRPr>
          </a:p>
          <a:p>
            <a:pPr marL="114300" indent="0">
              <a:lnSpc>
                <a:spcPct val="150000"/>
              </a:lnSpc>
              <a:buNone/>
            </a:pPr>
            <a:r>
              <a:rPr lang="en-US" altLang="en-GB" sz="1400" b="1">
                <a:latin typeface="Times New Roman" panose="02020603050405020304" charset="0"/>
                <a:cs typeface="Times New Roman" panose="02020603050405020304" charset="0"/>
                <a:sym typeface="+mn-ea"/>
              </a:rPr>
              <a:t>Training and Tutorial Portal</a:t>
            </a:r>
            <a:r>
              <a:rPr lang="en-US" altLang="en-GB" sz="1400">
                <a:latin typeface="Times New Roman" panose="02020603050405020304" charset="0"/>
                <a:cs typeface="Times New Roman" panose="02020603050405020304" charset="0"/>
                <a:sym typeface="+mn-ea"/>
              </a:rPr>
              <a:t>: Hosts video tutorials and educational content to promote awareness of modern farming techniques, tool usage, and best practices.</a:t>
            </a:r>
            <a:endParaRPr lang="en-US" altLang="en-GB" sz="1400">
              <a:latin typeface="Times New Roman" panose="02020603050405020304" charset="0"/>
              <a:cs typeface="Times New Roman" panose="02020603050405020304" charset="0"/>
            </a:endParaRPr>
          </a:p>
          <a:p>
            <a:pPr marL="114300" indent="0" algn="l">
              <a:lnSpc>
                <a:spcPct val="150000"/>
              </a:lnSpc>
              <a:buNone/>
            </a:pPr>
            <a:r>
              <a:rPr lang="en-US" altLang="en-GB" sz="1400" b="1">
                <a:latin typeface="Times New Roman" panose="02020603050405020304" charset="0"/>
                <a:cs typeface="Times New Roman" panose="02020603050405020304" charset="0"/>
                <a:sym typeface="+mn-ea"/>
              </a:rPr>
              <a:t>Digital Marketplace:</a:t>
            </a:r>
            <a:r>
              <a:rPr lang="en-US" altLang="en-GB" sz="1400">
                <a:latin typeface="Times New Roman" panose="02020603050405020304" charset="0"/>
                <a:cs typeface="Times New Roman" panose="02020603050405020304" charset="0"/>
                <a:sym typeface="+mn-ea"/>
              </a:rPr>
              <a:t> Allows farmers to showcase and sell their produce directly to buyers, minimizing reliance on middlemen and improving profits.</a:t>
            </a:r>
            <a:endParaRPr lang="en-US" altLang="en-GB" sz="1400">
              <a:latin typeface="Times New Roman" panose="02020603050405020304" charset="0"/>
              <a:cs typeface="Times New Roman" panose="02020603050405020304" charset="0"/>
            </a:endParaRPr>
          </a:p>
          <a:p>
            <a:pPr marL="114300" indent="0">
              <a:lnSpc>
                <a:spcPct val="150000"/>
              </a:lnSpc>
              <a:buNone/>
            </a:pPr>
            <a:endParaRPr lang="en-US" altLang="en-GB" sz="1400" dirty="0">
              <a:latin typeface="Times New Roman" panose="02020603050405020304" charset="0"/>
              <a:cs typeface="Times New Roman" panose="02020603050405020304" charset="0"/>
            </a:endParaRPr>
          </a:p>
        </p:txBody>
      </p:sp>
      <p:pic>
        <p:nvPicPr>
          <p:cNvPr id="2" name="Google Shape;92;p13"/>
          <p:cNvPicPr preferRelativeResize="0"/>
          <p:nvPr/>
        </p:nvPicPr>
        <p:blipFill rotWithShape="1">
          <a:blip r:embed="rId1"/>
          <a:srcRect/>
          <a:stretch>
            <a:fillRect/>
          </a:stretch>
        </p:blipFill>
        <p:spPr>
          <a:xfrm>
            <a:off x="669141" y="515183"/>
            <a:ext cx="540000" cy="540000"/>
          </a:xfrm>
          <a:prstGeom prst="rect">
            <a:avLst/>
          </a:prstGeom>
          <a:noFill/>
          <a:ln>
            <a:noFill/>
          </a:ln>
        </p:spPr>
      </p:pic>
      <p:sp>
        <p:nvSpPr>
          <p:cNvPr id="4" name="Footer Placeholder 3"/>
          <p:cNvSpPr>
            <a:spLocks noGrp="1"/>
          </p:cNvSpPr>
          <p:nvPr>
            <p:ph type="ftr" idx="11"/>
          </p:nvPr>
        </p:nvSpPr>
        <p:spPr/>
        <p:txBody>
          <a:bodyPr/>
          <a:lstStyle/>
          <a:p>
            <a:r>
              <a:rPr lang="en-IN" dirty="0"/>
              <a:t>Mid-Term SDP ,</a:t>
            </a:r>
            <a:r>
              <a:rPr lang="en-US" altLang="en-IN" dirty="0"/>
              <a:t> </a:t>
            </a:r>
            <a:r>
              <a:rPr lang="en-IN" dirty="0"/>
              <a:t>Dept. of CS &amp; IT</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sp>
        <p:nvSpPr>
          <p:cNvPr id="9" name="Text Box 8"/>
          <p:cNvSpPr txBox="1"/>
          <p:nvPr/>
        </p:nvSpPr>
        <p:spPr>
          <a:xfrm>
            <a:off x="588010" y="385445"/>
            <a:ext cx="11266170" cy="275590"/>
          </a:xfrm>
          <a:prstGeom prst="rect">
            <a:avLst/>
          </a:prstGeom>
          <a:noFill/>
        </p:spPr>
        <p:txBody>
          <a:bodyPr wrap="square" rtlCol="0">
            <a:spAutoFit/>
          </a:bodyPr>
          <a:p>
            <a:endParaRPr lang="en-US" altLang="en-GB" sz="12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Placeholder 5" descr="10_spt_ppt"/>
          <p:cNvPicPr>
            <a:picLocks noChangeAspect="1"/>
          </p:cNvPicPr>
          <p:nvPr>
            <p:ph type="pic" idx="2"/>
          </p:nvPr>
        </p:nvPicPr>
        <p:blipFill>
          <a:blip r:embed="rId1"/>
          <a:stretch>
            <a:fillRect/>
          </a:stretch>
        </p:blipFill>
        <p:spPr>
          <a:xfrm>
            <a:off x="3779520" y="987425"/>
            <a:ext cx="6230620" cy="4873625"/>
          </a:xfrm>
          <a:prstGeom prst="rect">
            <a:avLst/>
          </a:prstGeom>
          <a:noFill/>
          <a:ln>
            <a:noFill/>
          </a:ln>
        </p:spPr>
      </p:pic>
      <p:sp>
        <p:nvSpPr>
          <p:cNvPr id="5" name="Footer Placeholder 4"/>
          <p:cNvSpPr>
            <a:spLocks noGrp="1"/>
          </p:cNvSpPr>
          <p:nvPr>
            <p:ph type="ftr" idx="11"/>
          </p:nvPr>
        </p:nvSpPr>
        <p:spPr/>
        <p:txBody>
          <a:bodyPr/>
          <a:p>
            <a:r>
              <a:rPr lang="en-IN"/>
              <a:t>Dept. of CS &amp; IT</a:t>
            </a:r>
            <a:endParaRPr lang="en-IN"/>
          </a:p>
        </p:txBody>
      </p:sp>
      <p:sp>
        <p:nvSpPr>
          <p:cNvPr id="6" name="Slide Number Placeholder 5"/>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69619"/>
          </a:xfrm>
        </p:spPr>
        <p:txBody>
          <a:bodyPr spcFirstLastPara="1" wrap="square" lIns="91425" tIns="45700" rIns="91425" bIns="45700" anchor="ctr" anchorCtr="0">
            <a:noAutofit/>
          </a:bodyPr>
          <a:lstStyle/>
          <a:p>
            <a:br>
              <a:rPr lang="en-US" sz="2800" b="1" u="sng" dirty="0">
                <a:latin typeface="Arial" panose="020B0604020202020204" pitchFamily="34" charset="0"/>
                <a:cs typeface="Arial" panose="020B0604020202020204" pitchFamily="34" charset="0"/>
              </a:rPr>
            </a:br>
            <a:br>
              <a:rPr lang="en-US" sz="2800" b="1" u="sng" dirty="0">
                <a:latin typeface="Arial" panose="020B0604020202020204" pitchFamily="34" charset="0"/>
                <a:cs typeface="Arial" panose="020B0604020202020204" pitchFamily="34" charset="0"/>
              </a:rPr>
            </a:br>
            <a:endParaRPr lang="en-US" sz="2800" b="1" u="sng" dirty="0">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838200" y="1464310"/>
            <a:ext cx="10515600" cy="4979035"/>
          </a:xfrm>
        </p:spPr>
        <p:txBody>
          <a:bodyPr>
            <a:normAutofit/>
          </a:bodyPr>
          <a:lstStyle/>
          <a:p>
            <a:pPr marL="0" indent="0">
              <a:buNone/>
            </a:pPr>
            <a:endParaRPr lang="en-US" sz="2000" dirty="0"/>
          </a:p>
          <a:p>
            <a:pPr marL="114300" indent="0">
              <a:buNone/>
            </a:pPr>
            <a:endParaRPr lang="en-US" dirty="0"/>
          </a:p>
        </p:txBody>
      </p:sp>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sp>
        <p:nvSpPr>
          <p:cNvPr id="7" name="Google Shape;125;p18"/>
          <p:cNvSpPr/>
          <p:nvPr/>
        </p:nvSpPr>
        <p:spPr>
          <a:xfrm>
            <a:off x="451162"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p>
            <a:pPr marL="0" marR="0" lvl="0" indent="0" algn="l" rtl="0">
              <a:spcBef>
                <a:spcPts val="0"/>
              </a:spcBef>
              <a:spcAft>
                <a:spcPts val="0"/>
              </a:spcAft>
              <a:buNone/>
            </a:pPr>
            <a:r>
              <a:rPr lang="en-US" sz="2800" b="1" dirty="0">
                <a:solidFill>
                  <a:schemeClr val="accent5">
                    <a:lumMod val="75000"/>
                  </a:schemeClr>
                </a:solidFill>
                <a:latin typeface="Arial" panose="020B0604020202020204" pitchFamily="34" charset="0"/>
                <a:cs typeface="Arial" panose="020B0604020202020204" pitchFamily="34" charset="0"/>
                <a:sym typeface="+mn-ea"/>
              </a:rPr>
              <a:t>  Algorithm &amp; </a:t>
            </a:r>
            <a:r>
              <a:rPr lang="en-US" sz="2800" b="1" dirty="0" err="1">
                <a:solidFill>
                  <a:schemeClr val="accent5">
                    <a:lumMod val="75000"/>
                  </a:schemeClr>
                </a:solidFill>
                <a:latin typeface="Arial" panose="020B0604020202020204" pitchFamily="34" charset="0"/>
                <a:cs typeface="Arial" panose="020B0604020202020204" pitchFamily="34" charset="0"/>
                <a:sym typeface="+mn-ea"/>
              </a:rPr>
              <a:t>Technology,Frameworks</a:t>
            </a:r>
            <a:r>
              <a:rPr lang="en-US" sz="2800" b="1" dirty="0">
                <a:solidFill>
                  <a:schemeClr val="accent5">
                    <a:lumMod val="75000"/>
                  </a:schemeClr>
                </a:solidFill>
                <a:latin typeface="Arial" panose="020B0604020202020204" pitchFamily="34" charset="0"/>
                <a:cs typeface="Arial" panose="020B0604020202020204" pitchFamily="34" charset="0"/>
                <a:sym typeface="+mn-ea"/>
              </a:rPr>
              <a:t> and Tools used</a:t>
            </a:r>
            <a:endParaRPr lang="en-US" sz="2800" b="1" dirty="0">
              <a:solidFill>
                <a:schemeClr val="accent5">
                  <a:lumMod val="75000"/>
                </a:schemeClr>
              </a:solidFill>
              <a:latin typeface="Arial" panose="020B0604020202020204" pitchFamily="34" charset="0"/>
              <a:ea typeface="Calibri" panose="020F0502020204030204"/>
              <a:cs typeface="Arial" panose="020B0604020202020204" pitchFamily="34" charset="0"/>
              <a:sym typeface="+mn-ea"/>
            </a:endParaRPr>
          </a:p>
        </p:txBody>
      </p:sp>
      <p:sp>
        <p:nvSpPr>
          <p:cNvPr id="6" name="Text Box 5"/>
          <p:cNvSpPr txBox="1"/>
          <p:nvPr/>
        </p:nvSpPr>
        <p:spPr>
          <a:xfrm>
            <a:off x="751840" y="1504315"/>
            <a:ext cx="10918825" cy="553085"/>
          </a:xfrm>
          <a:prstGeom prst="rect">
            <a:avLst/>
          </a:prstGeom>
          <a:noFill/>
        </p:spPr>
        <p:txBody>
          <a:bodyPr wrap="square" rtlCol="0">
            <a:spAutoFit/>
          </a:bodyPr>
          <a:p>
            <a:endParaRPr lang="en-US" altLang="en-GB" sz="1600" b="1">
              <a:latin typeface="Times New Roman" panose="02020603050405020304" charset="0"/>
              <a:cs typeface="Times New Roman" panose="02020603050405020304" charset="0"/>
            </a:endParaRPr>
          </a:p>
          <a:p>
            <a:r>
              <a:rPr lang="en-IN" altLang="en-US"/>
              <a:t>          </a:t>
            </a:r>
            <a:endParaRPr lang="en-IN" altLang="en-US"/>
          </a:p>
        </p:txBody>
      </p:sp>
      <p:graphicFrame>
        <p:nvGraphicFramePr>
          <p:cNvPr id="9" name="Table 8"/>
          <p:cNvGraphicFramePr/>
          <p:nvPr>
            <p:custDataLst>
              <p:tags r:id="rId1"/>
            </p:custDataLst>
          </p:nvPr>
        </p:nvGraphicFramePr>
        <p:xfrm>
          <a:off x="460375" y="1435100"/>
          <a:ext cx="11104880" cy="4118610"/>
        </p:xfrm>
        <a:graphic>
          <a:graphicData uri="http://schemas.openxmlformats.org/drawingml/2006/table">
            <a:tbl>
              <a:tblPr firstRow="1" bandRow="1">
                <a:tableStyleId>{5C22544A-7EE6-4342-B048-85BDC9FD1C3A}</a:tableStyleId>
              </a:tblPr>
              <a:tblGrid>
                <a:gridCol w="2776220"/>
                <a:gridCol w="2776220"/>
                <a:gridCol w="2776220"/>
                <a:gridCol w="2776220"/>
              </a:tblGrid>
              <a:tr h="457835">
                <a:tc>
                  <a:txBody>
                    <a:bodyPr/>
                    <a:p>
                      <a:pPr>
                        <a:buNone/>
                      </a:pPr>
                      <a:r>
                        <a:rPr lang="en-IN" altLang="en-GB"/>
                        <a:t>                 Module</a:t>
                      </a:r>
                      <a:endParaRPr lang="en-IN" altLang="en-GB"/>
                    </a:p>
                  </a:txBody>
                  <a:tcPr/>
                </a:tc>
                <a:tc>
                  <a:txBody>
                    <a:bodyPr/>
                    <a:p>
                      <a:pPr>
                        <a:buNone/>
                      </a:pPr>
                      <a:r>
                        <a:rPr lang="en-US" altLang="en-GB"/>
                        <a:t>Algorithm &amp; Technology</a:t>
                      </a:r>
                      <a:endParaRPr lang="en-IN" altLang="en-GB"/>
                    </a:p>
                  </a:txBody>
                  <a:tcPr/>
                </a:tc>
                <a:tc>
                  <a:txBody>
                    <a:bodyPr/>
                    <a:p>
                      <a:pPr>
                        <a:buNone/>
                      </a:pPr>
                      <a:r>
                        <a:rPr lang="en-IN" altLang="en-US" sz="1400" dirty="0" err="1">
                          <a:solidFill>
                            <a:schemeClr val="bg1"/>
                          </a:solidFill>
                          <a:latin typeface="Arial" panose="020B0604020202020204" pitchFamily="34" charset="0"/>
                          <a:cs typeface="Arial" panose="020B0604020202020204" pitchFamily="34" charset="0"/>
                          <a:sym typeface="+mn-ea"/>
                        </a:rPr>
                        <a:t>          </a:t>
                      </a:r>
                      <a:r>
                        <a:rPr lang="en-US" sz="1400" dirty="0" err="1">
                          <a:solidFill>
                            <a:schemeClr val="bg1"/>
                          </a:solidFill>
                          <a:latin typeface="Arial" panose="020B0604020202020204" pitchFamily="34" charset="0"/>
                          <a:cs typeface="Arial" panose="020B0604020202020204" pitchFamily="34" charset="0"/>
                          <a:sym typeface="+mn-ea"/>
                        </a:rPr>
                        <a:t>Frameworks</a:t>
                      </a:r>
                      <a:endParaRPr lang="en-US" altLang="en-US" sz="1400" dirty="0" err="1">
                        <a:solidFill>
                          <a:schemeClr val="bg1"/>
                        </a:solidFill>
                        <a:latin typeface="Arial" panose="020B0604020202020204" pitchFamily="34" charset="0"/>
                        <a:cs typeface="Arial" panose="020B0604020202020204" pitchFamily="34" charset="0"/>
                        <a:sym typeface="+mn-ea"/>
                      </a:endParaRPr>
                    </a:p>
                  </a:txBody>
                  <a:tcPr/>
                </a:tc>
                <a:tc>
                  <a:txBody>
                    <a:bodyPr/>
                    <a:p>
                      <a:pPr>
                        <a:buNone/>
                      </a:pPr>
                      <a:r>
                        <a:rPr lang="en-IN" altLang="en-US" sz="1400" dirty="0">
                          <a:solidFill>
                            <a:schemeClr val="bg1"/>
                          </a:solidFill>
                          <a:latin typeface="Arial" panose="020B0604020202020204" pitchFamily="34" charset="0"/>
                          <a:cs typeface="Arial" panose="020B0604020202020204" pitchFamily="34" charset="0"/>
                          <a:sym typeface="+mn-ea"/>
                        </a:rPr>
                        <a:t>                 </a:t>
                      </a:r>
                      <a:r>
                        <a:rPr lang="en-US" sz="1400" dirty="0">
                          <a:solidFill>
                            <a:schemeClr val="bg1"/>
                          </a:solidFill>
                          <a:latin typeface="Arial" panose="020B0604020202020204" pitchFamily="34" charset="0"/>
                          <a:cs typeface="Arial" panose="020B0604020202020204" pitchFamily="34" charset="0"/>
                          <a:sym typeface="+mn-ea"/>
                        </a:rPr>
                        <a:t>Tools</a:t>
                      </a:r>
                      <a:endParaRPr lang="en-US" altLang="en-US" sz="1400" dirty="0">
                        <a:solidFill>
                          <a:schemeClr val="bg1"/>
                        </a:solidFill>
                        <a:latin typeface="Arial" panose="020B0604020202020204" pitchFamily="34" charset="0"/>
                        <a:cs typeface="Arial" panose="020B0604020202020204" pitchFamily="34" charset="0"/>
                        <a:sym typeface="+mn-ea"/>
                      </a:endParaRPr>
                    </a:p>
                  </a:txBody>
                  <a:tcPr/>
                </a:tc>
              </a:tr>
              <a:tr h="457835">
                <a:tc>
                  <a:txBody>
                    <a:bodyPr/>
                    <a:p>
                      <a:pPr>
                        <a:buNone/>
                      </a:pPr>
                      <a:r>
                        <a:rPr lang="en-US" altLang="en-GB">
                          <a:latin typeface="Times New Roman" panose="02020603050405020304" charset="0"/>
                          <a:cs typeface="Times New Roman" panose="02020603050405020304" charset="0"/>
                        </a:rPr>
                        <a:t> Crop Recommendation </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XGBoost (Gradient Boosted Trees)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SMOTE</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RandomizedSearchCV </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Flask (API layer)</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React.js (Frontend interface)</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Scikit-learn </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Pandas, NumPy </a:t>
                      </a:r>
                      <a:endParaRPr lang="en-US" altLang="en-GB">
                        <a:latin typeface="Times New Roman" panose="02020603050405020304" charset="0"/>
                        <a:cs typeface="Times New Roman" panose="02020603050405020304" charset="0"/>
                      </a:endParaRPr>
                    </a:p>
                  </a:txBody>
                  <a:tcPr/>
                </a:tc>
              </a:tr>
              <a:tr h="457835">
                <a:tc>
                  <a:txBody>
                    <a:bodyPr/>
                    <a:p>
                      <a:pPr>
                        <a:buNone/>
                      </a:pPr>
                      <a:r>
                        <a:rPr lang="en-US" altLang="en-GB">
                          <a:latin typeface="Times New Roman" panose="02020603050405020304" charset="0"/>
                          <a:cs typeface="Times New Roman" panose="02020603050405020304" charset="0"/>
                        </a:rPr>
                        <a:t>Plant Disease Detection</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MobileNetV2 with ECA</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Custom CNN with ECA</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TensorFlow &amp; Keras (Model training)</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React.js (Frontend interface)</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ImageDataGenerator (Augmentation)</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Matplotlib (Visualization)</a:t>
                      </a:r>
                      <a:endParaRPr lang="en-US" altLang="en-GB">
                        <a:latin typeface="Times New Roman" panose="02020603050405020304" charset="0"/>
                        <a:cs typeface="Times New Roman" panose="02020603050405020304" charset="0"/>
                      </a:endParaRPr>
                    </a:p>
                  </a:txBody>
                  <a:tcPr/>
                </a:tc>
              </a:tr>
              <a:tr h="457835">
                <a:tc>
                  <a:txBody>
                    <a:bodyPr/>
                    <a:p>
                      <a:pPr>
                        <a:buNone/>
                      </a:pPr>
                      <a:r>
                        <a:rPr lang="en-US" altLang="en-GB">
                          <a:latin typeface="Times New Roman" panose="02020603050405020304" charset="0"/>
                          <a:cs typeface="Times New Roman" panose="02020603050405020304" charset="0"/>
                        </a:rPr>
                        <a:t> Weather Dashboard</a:t>
                      </a:r>
                      <a:endParaRPr lang="en-US" altLang="en-GB">
                        <a:latin typeface="Times New Roman" panose="02020603050405020304" charset="0"/>
                        <a:cs typeface="Times New Roman" panose="02020603050405020304" charset="0"/>
                      </a:endParaRPr>
                    </a:p>
                  </a:txBody>
                  <a:tcPr/>
                </a:tc>
                <a:tc>
                  <a:txBody>
                    <a:bodyPr/>
                    <a:p>
                      <a:pPr>
                        <a:buNone/>
                      </a:pPr>
                      <a:r>
                        <a:rPr lang="en-US" altLang="en-GB">
                          <a:latin typeface="Times New Roman" panose="02020603050405020304" charset="0"/>
                          <a:cs typeface="Times New Roman" panose="02020603050405020304" charset="0"/>
                        </a:rPr>
                        <a:t>REST API integration (OpenMetro API</a:t>
                      </a:r>
                      <a:r>
                        <a:rPr lang="en-IN" altLang="en-US">
                          <a:latin typeface="Times New Roman" panose="02020603050405020304" charset="0"/>
                          <a:cs typeface="Times New Roman" panose="02020603050405020304" charset="0"/>
                        </a:rPr>
                        <a:t>)</a:t>
                      </a:r>
                      <a:endParaRPr lang="en-IN" altLang="en-US">
                        <a:latin typeface="Times New Roman" panose="02020603050405020304" charset="0"/>
                        <a:cs typeface="Times New Roman" panose="02020603050405020304" charset="0"/>
                      </a:endParaRPr>
                    </a:p>
                  </a:txBody>
                  <a:tcPr/>
                </a:tc>
                <a:tc>
                  <a:txBody>
                    <a:bodyPr/>
                    <a:p>
                      <a:pPr>
                        <a:buNone/>
                      </a:pPr>
                      <a:r>
                        <a:rPr lang="en-US" altLang="en-GB">
                          <a:latin typeface="Times New Roman" panose="02020603050405020304" charset="0"/>
                          <a:cs typeface="Times New Roman" panose="02020603050405020304" charset="0"/>
                        </a:rPr>
                        <a:t>React.js (Frontend display)</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Geolocation API</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Axios/Fetch (API calls)</a:t>
                      </a:r>
                      <a:endParaRPr lang="en-US" altLang="en-GB">
                        <a:latin typeface="Times New Roman" panose="02020603050405020304" charset="0"/>
                        <a:cs typeface="Times New Roman" panose="02020603050405020304" charset="0"/>
                      </a:endParaRPr>
                    </a:p>
                  </a:txBody>
                  <a:tcPr/>
                </a:tc>
              </a:tr>
              <a:tr h="457835">
                <a:tc>
                  <a:txBody>
                    <a:bodyPr/>
                    <a:p>
                      <a:pPr>
                        <a:buNone/>
                      </a:pPr>
                      <a:r>
                        <a:rPr lang="en-US" altLang="en-GB">
                          <a:latin typeface="Times New Roman" panose="02020603050405020304" charset="0"/>
                          <a:cs typeface="Times New Roman" panose="02020603050405020304" charset="0"/>
                        </a:rPr>
                        <a:t>Warehouse Locator</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Geospatial Mapping</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Geolocation API</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OpenLayer (Map rendering)</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React.js (Interface)</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JavaScript Map Services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HTML5 Geolocation</a:t>
                      </a:r>
                      <a:endParaRPr lang="en-US" altLang="en-GB">
                        <a:latin typeface="Times New Roman" panose="02020603050405020304" charset="0"/>
                        <a:cs typeface="Times New Roman" panose="02020603050405020304" charset="0"/>
                      </a:endParaRPr>
                    </a:p>
                  </a:txBody>
                  <a:tcPr/>
                </a:tc>
              </a:tr>
              <a:tr h="457835">
                <a:tc>
                  <a:txBody>
                    <a:bodyPr/>
                    <a:p>
                      <a:pPr>
                        <a:buNone/>
                      </a:pPr>
                      <a:r>
                        <a:rPr lang="en-US" altLang="en-GB">
                          <a:latin typeface="Times New Roman" panose="02020603050405020304" charset="0"/>
                          <a:cs typeface="Times New Roman" panose="02020603050405020304" charset="0"/>
                        </a:rPr>
                        <a:t> Government Scheme </a:t>
                      </a:r>
                      <a:endParaRPr lang="en-US" altLang="en-GB">
                        <a:latin typeface="Times New Roman" panose="02020603050405020304" charset="0"/>
                        <a:cs typeface="Times New Roman" panose="02020603050405020304" charset="0"/>
                      </a:endParaRPr>
                    </a:p>
                  </a:txBody>
                  <a:tcPr/>
                </a:tc>
                <a:tc>
                  <a:txBody>
                    <a:bodyPr/>
                    <a:p>
                      <a:pPr>
                        <a:buNone/>
                      </a:pPr>
                      <a:r>
                        <a:rPr lang="en-IN" altLang="en-GB">
                          <a:latin typeface="Times New Roman" panose="02020603050405020304" charset="0"/>
                          <a:cs typeface="Times New Roman" panose="02020603050405020304" charset="0"/>
                        </a:rPr>
                        <a:t> Hyperlinks</a:t>
                      </a:r>
                      <a:endParaRPr lang="en-IN" altLang="en-GB">
                        <a:latin typeface="Times New Roman" panose="02020603050405020304" charset="0"/>
                        <a:cs typeface="Times New Roman" panose="02020603050405020304" charset="0"/>
                      </a:endParaRPr>
                    </a:p>
                  </a:txBody>
                  <a:tcPr/>
                </a:tc>
                <a:tc>
                  <a:txBody>
                    <a:bodyPr/>
                    <a:p>
                      <a:pPr>
                        <a:buNone/>
                      </a:pPr>
                      <a:r>
                        <a:rPr lang="en-US" altLang="en-GB">
                          <a:latin typeface="Times New Roman" panose="02020603050405020304" charset="0"/>
                          <a:cs typeface="Times New Roman" panose="02020603050405020304" charset="0"/>
                        </a:rPr>
                        <a:t>React.js (Card layout interface)</a:t>
                      </a:r>
                      <a:endParaRPr lang="en-US" altLang="en-GB">
                        <a:latin typeface="Times New Roman" panose="02020603050405020304" charset="0"/>
                        <a:cs typeface="Times New Roman" panose="02020603050405020304" charset="0"/>
                      </a:endParaRPr>
                    </a:p>
                  </a:txBody>
                  <a:tcPr/>
                </a:tc>
                <a:tc>
                  <a:txBody>
                    <a:bodyPr/>
                    <a:p>
                      <a:pPr>
                        <a:buNone/>
                      </a:pPr>
                      <a:endParaRPr lang="en-GB" altLang="en-US"/>
                    </a:p>
                  </a:txBody>
                  <a:tcPr/>
                </a:tc>
              </a:tr>
              <a:tr h="457835">
                <a:tc>
                  <a:txBody>
                    <a:bodyPr/>
                    <a:p>
                      <a:pPr>
                        <a:buNone/>
                      </a:pPr>
                      <a:r>
                        <a:rPr lang="en-US" altLang="en-GB">
                          <a:latin typeface="Times New Roman" panose="02020603050405020304" charset="0"/>
                          <a:cs typeface="Times New Roman" panose="02020603050405020304" charset="0"/>
                        </a:rPr>
                        <a:t>Training</a:t>
                      </a:r>
                      <a:r>
                        <a:rPr lang="en-IN" altLang="en-US">
                          <a:latin typeface="Times New Roman" panose="02020603050405020304" charset="0"/>
                          <a:cs typeface="Times New Roman" panose="02020603050405020304" charset="0"/>
                        </a:rPr>
                        <a:t> videos</a:t>
                      </a:r>
                      <a:endParaRPr lang="en-IN" altLang="en-US">
                        <a:latin typeface="Times New Roman" panose="02020603050405020304" charset="0"/>
                        <a:cs typeface="Times New Roman" panose="02020603050405020304" charset="0"/>
                      </a:endParaRPr>
                    </a:p>
                  </a:txBody>
                  <a:tcPr/>
                </a:tc>
                <a:tc>
                  <a:txBody>
                    <a:bodyPr/>
                    <a:p>
                      <a:pPr>
                        <a:buNone/>
                      </a:pPr>
                      <a:r>
                        <a:rPr lang="en-US" altLang="en-GB">
                          <a:latin typeface="Times New Roman" panose="02020603050405020304" charset="0"/>
                          <a:cs typeface="Times New Roman" panose="02020603050405020304" charset="0"/>
                        </a:rPr>
                        <a:t>Video embedding (YouTube, local sources)</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React.js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TailwindCSS</a:t>
                      </a:r>
                      <a:endParaRPr lang="en-US" altLang="en-GB">
                        <a:latin typeface="Times New Roman" panose="02020603050405020304" charset="0"/>
                        <a:cs typeface="Times New Roman" panose="02020603050405020304" charset="0"/>
                      </a:endParaRPr>
                    </a:p>
                  </a:txBody>
                  <a:tcPr/>
                </a:tc>
                <a:tc>
                  <a:txBody>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Media Player APIs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YouTube iframe embeds</a:t>
                      </a:r>
                      <a:endParaRPr lang="en-US" altLang="en-GB">
                        <a:latin typeface="Times New Roman" panose="02020603050405020304" charset="0"/>
                        <a:cs typeface="Times New Roman" panose="02020603050405020304" charset="0"/>
                      </a:endParaRPr>
                    </a:p>
                  </a:txBody>
                  <a:tcPr/>
                </a:tc>
              </a:tr>
            </a:tbl>
          </a:graphicData>
        </a:graphic>
      </p:graphicFrame>
      <p:graphicFrame>
        <p:nvGraphicFramePr>
          <p:cNvPr id="10" name="Table 9"/>
          <p:cNvGraphicFramePr/>
          <p:nvPr>
            <p:custDataLst>
              <p:tags r:id="rId2"/>
            </p:custDataLst>
          </p:nvPr>
        </p:nvGraphicFramePr>
        <p:xfrm>
          <a:off x="460375" y="5581650"/>
          <a:ext cx="11107420" cy="554355"/>
        </p:xfrm>
        <a:graphic>
          <a:graphicData uri="http://schemas.openxmlformats.org/drawingml/2006/table">
            <a:tbl>
              <a:tblPr firstRow="1" bandRow="1">
                <a:tableStyleId>{5C22544A-7EE6-4342-B048-85BDC9FD1C3A}</a:tableStyleId>
              </a:tblPr>
              <a:tblGrid>
                <a:gridCol w="2776855"/>
                <a:gridCol w="2776855"/>
                <a:gridCol w="2776855"/>
                <a:gridCol w="2776855"/>
              </a:tblGrid>
              <a:tr h="554355">
                <a:tc>
                  <a:txBody>
                    <a:bodyPr/>
                    <a:p>
                      <a:pPr>
                        <a:buNone/>
                      </a:pPr>
                      <a:r>
                        <a:rPr lang="en-US" altLang="en-GB" b="0">
                          <a:solidFill>
                            <a:schemeClr val="tx1">
                              <a:lumMod val="95000"/>
                              <a:lumOff val="5000"/>
                            </a:schemeClr>
                          </a:solidFill>
                        </a:rPr>
                        <a:t>Digital Marketplace</a:t>
                      </a:r>
                      <a:endParaRPr lang="en-US" altLang="en-GB" b="0">
                        <a:solidFill>
                          <a:schemeClr val="tx1">
                            <a:lumMod val="95000"/>
                            <a:lumOff val="5000"/>
                          </a:schemeClr>
                        </a:solidFill>
                      </a:endParaRPr>
                    </a:p>
                  </a:txBody>
                  <a:tcPr>
                    <a:solidFill>
                      <a:schemeClr val="accent1">
                        <a:lumMod val="40000"/>
                        <a:lumOff val="60000"/>
                      </a:schemeClr>
                    </a:solidFill>
                  </a:tcPr>
                </a:tc>
                <a:tc>
                  <a:txBody>
                    <a:bodyPr/>
                    <a:p>
                      <a:pPr marL="285750" indent="-285750">
                        <a:buFont typeface="Arial" panose="020B0604020202020204" pitchFamily="34" charset="0"/>
                        <a:buChar char="•"/>
                      </a:pPr>
                      <a:r>
                        <a:rPr lang="en-US" altLang="en-GB" b="0">
                          <a:solidFill>
                            <a:schemeClr val="tx1">
                              <a:lumMod val="95000"/>
                              <a:lumOff val="5000"/>
                            </a:schemeClr>
                          </a:solidFill>
                        </a:rPr>
                        <a:t>JWT (Authentication)</a:t>
                      </a:r>
                      <a:endParaRPr lang="en-US" altLang="en-GB" b="0">
                        <a:solidFill>
                          <a:schemeClr val="tx1">
                            <a:lumMod val="95000"/>
                            <a:lumOff val="5000"/>
                          </a:schemeClr>
                        </a:solidFill>
                      </a:endParaRPr>
                    </a:p>
                    <a:p>
                      <a:pPr marL="285750" indent="-285750">
                        <a:buFont typeface="Arial" panose="020B0604020202020204" pitchFamily="34" charset="0"/>
                        <a:buChar char="•"/>
                      </a:pPr>
                      <a:r>
                        <a:rPr lang="en-US" altLang="en-GB" b="0">
                          <a:solidFill>
                            <a:schemeClr val="tx1">
                              <a:lumMod val="95000"/>
                              <a:lumOff val="5000"/>
                            </a:schemeClr>
                          </a:solidFill>
                        </a:rPr>
                        <a:t>GraphQL (Data querying)</a:t>
                      </a:r>
                      <a:endParaRPr lang="en-US" altLang="en-GB" b="0">
                        <a:solidFill>
                          <a:schemeClr val="tx1">
                            <a:lumMod val="95000"/>
                            <a:lumOff val="5000"/>
                          </a:schemeClr>
                        </a:solidFill>
                      </a:endParaRPr>
                    </a:p>
                  </a:txBody>
                  <a:tcPr>
                    <a:solidFill>
                      <a:schemeClr val="accent1">
                        <a:lumMod val="40000"/>
                        <a:lumOff val="60000"/>
                      </a:schemeClr>
                    </a:solidFill>
                  </a:tcPr>
                </a:tc>
                <a:tc>
                  <a:txBody>
                    <a:bodyPr/>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React.js (Frontend)</a:t>
                      </a:r>
                      <a:endParaRPr lang="en-US" altLang="en-GB" b="0">
                        <a:solidFill>
                          <a:schemeClr val="tx1">
                            <a:lumMod val="95000"/>
                            <a:lumOff val="5000"/>
                          </a:schemeClr>
                        </a:solidFill>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Node.js + Express.js (Backend)</a:t>
                      </a:r>
                      <a:endParaRPr lang="en-US" altLang="en-GB" b="0">
                        <a:solidFill>
                          <a:schemeClr val="tx1">
                            <a:lumMod val="95000"/>
                            <a:lumOff val="5000"/>
                          </a:schemeClr>
                        </a:solidFill>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MongoDB Atlas (Database)</a:t>
                      </a:r>
                      <a:endParaRPr lang="en-US" altLang="en-GB" b="0">
                        <a:solidFill>
                          <a:schemeClr val="tx1">
                            <a:lumMod val="95000"/>
                            <a:lumOff val="5000"/>
                          </a:schemeClr>
                        </a:solidFill>
                        <a:latin typeface="Times New Roman" panose="02020603050405020304" charset="0"/>
                        <a:cs typeface="Times New Roman" panose="02020603050405020304" charset="0"/>
                      </a:endParaRPr>
                    </a:p>
                  </a:txBody>
                  <a:tcPr>
                    <a:solidFill>
                      <a:schemeClr val="accent1">
                        <a:lumMod val="40000"/>
                        <a:lumOff val="60000"/>
                      </a:schemeClr>
                    </a:solidFill>
                  </a:tcPr>
                </a:tc>
                <a:tc>
                  <a:txBody>
                    <a:bodyPr/>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Apollo Client/Server</a:t>
                      </a:r>
                      <a:endParaRPr lang="en-US" altLang="en-GB" b="0">
                        <a:solidFill>
                          <a:schemeClr val="tx1">
                            <a:lumMod val="95000"/>
                            <a:lumOff val="5000"/>
                          </a:schemeClr>
                        </a:solidFill>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Mongoose (ODM)</a:t>
                      </a:r>
                      <a:endParaRPr lang="en-US" altLang="en-GB" b="0">
                        <a:solidFill>
                          <a:schemeClr val="tx1">
                            <a:lumMod val="95000"/>
                            <a:lumOff val="5000"/>
                          </a:schemeClr>
                        </a:solidFill>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b="0">
                          <a:solidFill>
                            <a:schemeClr val="tx1">
                              <a:lumMod val="95000"/>
                              <a:lumOff val="5000"/>
                            </a:schemeClr>
                          </a:solidFill>
                          <a:latin typeface="Times New Roman" panose="02020603050405020304" charset="0"/>
                          <a:cs typeface="Times New Roman" panose="02020603050405020304" charset="0"/>
                        </a:rPr>
                        <a:t>TailwindCSS (Styling)</a:t>
                      </a:r>
                      <a:endParaRPr lang="en-US" altLang="en-GB" b="0">
                        <a:solidFill>
                          <a:schemeClr val="tx1">
                            <a:lumMod val="95000"/>
                            <a:lumOff val="5000"/>
                          </a:schemeClr>
                        </a:solidFill>
                        <a:latin typeface="Times New Roman" panose="02020603050405020304" charset="0"/>
                        <a:cs typeface="Times New Roman" panose="02020603050405020304" charset="0"/>
                      </a:endParaRPr>
                    </a:p>
                  </a:txBody>
                  <a:tcPr>
                    <a:solidFill>
                      <a:schemeClr val="accent1">
                        <a:lumMod val="40000"/>
                        <a:lumOff val="60000"/>
                      </a:schemeClr>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25" name="Google Shape;125;p18"/>
          <p:cNvSpPr/>
          <p:nvPr/>
        </p:nvSpPr>
        <p:spPr>
          <a:xfrm>
            <a:off x="451162"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dirty="0">
                <a:solidFill>
                  <a:schemeClr val="accent5">
                    <a:lumMod val="75000"/>
                  </a:schemeClr>
                </a:solidFill>
              </a:rPr>
              <a:t>	Implementation of  Proposed Design of Product </a:t>
            </a:r>
            <a:endParaRPr sz="2800" dirty="0">
              <a:solidFill>
                <a:schemeClr val="accent5">
                  <a:lumMod val="75000"/>
                </a:schemeClr>
              </a:solidFill>
              <a:latin typeface="Calibri" panose="020F0502020204030204"/>
              <a:ea typeface="Calibri" panose="020F0502020204030204"/>
              <a:cs typeface="Calibri" panose="020F0502020204030204"/>
              <a:sym typeface="Calibri" panose="020F0502020204030204"/>
            </a:endParaRPr>
          </a:p>
        </p:txBody>
      </p:sp>
      <p:sp>
        <p:nvSpPr>
          <p:cNvPr id="3" name="Text Placeholder 2"/>
          <p:cNvSpPr>
            <a:spLocks noGrp="1"/>
          </p:cNvSpPr>
          <p:nvPr>
            <p:ph type="body" idx="1"/>
          </p:nvPr>
        </p:nvSpPr>
        <p:spPr>
          <a:xfrm>
            <a:off x="450850" y="1366520"/>
            <a:ext cx="11640820" cy="4989830"/>
          </a:xfrm>
        </p:spPr>
        <p:txBody>
          <a:bodyPr>
            <a:normAutofit fontScale="50000"/>
          </a:bodyPr>
          <a:lstStyle/>
          <a:p>
            <a:pPr marL="114300" indent="0">
              <a:buNone/>
            </a:pPr>
            <a:r>
              <a:rPr lang="en-IN" sz="3200" b="1" dirty="0">
                <a:latin typeface="Times New Roman" panose="02020603050405020304" charset="0"/>
                <a:cs typeface="Times New Roman" panose="02020603050405020304" charset="0"/>
              </a:rPr>
              <a:t>Crop  Recommendation</a:t>
            </a:r>
            <a:r>
              <a:rPr lang="en-IN" sz="1600" b="1" dirty="0">
                <a:latin typeface="Times New Roman" panose="02020603050405020304" charset="0"/>
                <a:cs typeface="Times New Roman" panose="02020603050405020304" charset="0"/>
              </a:rPr>
              <a:t>:</a:t>
            </a:r>
            <a:r>
              <a:rPr lang="en-US" altLang="en-GB" sz="1600" b="1" dirty="0">
                <a:latin typeface="Times New Roman" panose="02020603050405020304" charset="0"/>
                <a:cs typeface="Times New Roman" panose="02020603050405020304" charset="0"/>
              </a:rPr>
              <a:t> </a:t>
            </a:r>
            <a:r>
              <a:rPr lang="en-IN" altLang="en-US" sz="1600" b="1" dirty="0">
                <a:latin typeface="Times New Roman" panose="02020603050405020304" charset="0"/>
                <a:cs typeface="Times New Roman" panose="02020603050405020304" charset="0"/>
              </a:rPr>
              <a:t> </a:t>
            </a:r>
            <a:endParaRPr lang="en-IN" altLang="en-US" sz="1600" b="1"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 Built using the XGBoost classifier, suitable for structured/tabular data.</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 Preprocessing involves standard scaling and label encoding of target crop classes.</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 SMOTE (Synthetic Minority Over-sampling Technique) is used to handle class imbalance.</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 RandomizedSearchCV with Stratified K-Fold cross-validation is applied for hyperparameter tuning.</a:t>
            </a:r>
            <a:endParaRPr lang="en-US" altLang="en-GB" dirty="0">
              <a:latin typeface="Times New Roman" panose="02020603050405020304" charset="0"/>
              <a:cs typeface="Times New Roman" panose="02020603050405020304" charset="0"/>
            </a:endParaRPr>
          </a:p>
          <a:p>
            <a:pPr marL="114300" indent="0">
              <a:buNone/>
            </a:pPr>
            <a:r>
              <a:rPr lang="en-IN" altLang="en-US" sz="3200" b="1" dirty="0">
                <a:latin typeface="Times New Roman" panose="02020603050405020304" charset="0"/>
                <a:cs typeface="Times New Roman" panose="02020603050405020304" charset="0"/>
              </a:rPr>
              <a:t>Crop Disease Detection:</a:t>
            </a:r>
            <a:endParaRPr lang="en-IN" altLang="en-US" sz="3200" b="1" dirty="0">
              <a:latin typeface="Times New Roman" panose="02020603050405020304" charset="0"/>
              <a:cs typeface="Times New Roman" panose="02020603050405020304" charset="0"/>
            </a:endParaRPr>
          </a:p>
          <a:p>
            <a:pPr marL="114300" indent="0">
              <a:buNone/>
            </a:pPr>
            <a:r>
              <a:rPr lang="en-IN" altLang="en-US" sz="1600" b="1" dirty="0">
                <a:latin typeface="Times New Roman" panose="02020603050405020304" charset="0"/>
                <a:cs typeface="Times New Roman" panose="02020603050405020304" charset="0"/>
              </a:rPr>
              <a:t>        </a:t>
            </a:r>
            <a:r>
              <a:rPr lang="en-IN" altLang="en-US" b="1" dirty="0">
                <a:latin typeface="Times New Roman" panose="02020603050405020304" charset="0"/>
                <a:cs typeface="Times New Roman" panose="02020603050405020304" charset="0"/>
              </a:rPr>
              <a:t>      Custom CNN</a:t>
            </a:r>
            <a:r>
              <a:rPr lang="en-IN" altLang="en-US" sz="2335" b="1" dirty="0">
                <a:latin typeface="Times New Roman" panose="02020603050405020304" charset="0"/>
                <a:cs typeface="Times New Roman" panose="02020603050405020304" charset="0"/>
              </a:rPr>
              <a:t>:</a:t>
            </a:r>
            <a:endParaRPr lang="en-IN" altLang="en-US" sz="2335" b="1" dirty="0">
              <a:latin typeface="Times New Roman" panose="02020603050405020304" charset="0"/>
              <a:cs typeface="Times New Roman" panose="02020603050405020304" charset="0"/>
            </a:endParaRPr>
          </a:p>
          <a:p>
            <a:r>
              <a:rPr lang="en-US" altLang="en-GB" b="1" dirty="0">
                <a:latin typeface="Times New Roman" panose="02020603050405020304" charset="0"/>
                <a:cs typeface="Times New Roman" panose="02020603050405020304" charset="0"/>
              </a:rPr>
              <a:t> </a:t>
            </a:r>
            <a:r>
              <a:rPr lang="en-US" altLang="en-GB" dirty="0">
                <a:latin typeface="Times New Roman" panose="02020603050405020304" charset="0"/>
                <a:cs typeface="Times New Roman" panose="02020603050405020304" charset="0"/>
              </a:rPr>
              <a:t>Uses 160</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160</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3 input image size.</a:t>
            </a:r>
            <a:endParaRPr lang="en-IN" altLang="en-US"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Consists of five convolutional blocks; each includes:</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Conv2D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BatchNormalization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LeakyReLU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ECA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MaxPooling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Dropout.</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Followed by Global Average Pooling, a dense layer, and a final Softmax output layer.</a:t>
            </a:r>
            <a:endParaRPr lang="en-US" altLang="en-GB" dirty="0">
              <a:latin typeface="Times New Roman" panose="02020603050405020304" charset="0"/>
              <a:cs typeface="Times New Roman" panose="02020603050405020304" charset="0"/>
            </a:endParaRPr>
          </a:p>
          <a:p>
            <a:pPr marL="114300" indent="0">
              <a:buNone/>
            </a:pPr>
            <a:r>
              <a:rPr lang="en-IN" altLang="en-US" sz="2335" dirty="0">
                <a:latin typeface="Times New Roman" panose="02020603050405020304" charset="0"/>
                <a:cs typeface="Times New Roman" panose="02020603050405020304" charset="0"/>
              </a:rPr>
              <a:t>             </a:t>
            </a:r>
            <a:r>
              <a:rPr lang="en-IN" altLang="en-US" dirty="0">
                <a:latin typeface="Times New Roman" panose="02020603050405020304" charset="0"/>
                <a:cs typeface="Times New Roman" panose="02020603050405020304" charset="0"/>
              </a:rPr>
              <a:t> </a:t>
            </a:r>
            <a:r>
              <a:rPr lang="en-IN" altLang="en-US" b="1" dirty="0">
                <a:latin typeface="Times New Roman" panose="02020603050405020304" charset="0"/>
                <a:cs typeface="Times New Roman" panose="02020603050405020304" charset="0"/>
              </a:rPr>
              <a:t>MobileNetV2 :</a:t>
            </a:r>
            <a:endParaRPr lang="en-IN" altLang="en-US" sz="2335" dirty="0">
              <a:latin typeface="Times New Roman" panose="02020603050405020304" charset="0"/>
              <a:cs typeface="Times New Roman" panose="02020603050405020304" charset="0"/>
            </a:endParaRPr>
          </a:p>
          <a:p>
            <a:r>
              <a:rPr lang="en-IN" altLang="en-US" dirty="0">
                <a:latin typeface="Times New Roman" panose="02020603050405020304" charset="0"/>
                <a:cs typeface="Times New Roman" panose="02020603050405020304" charset="0"/>
              </a:rPr>
              <a:t> </a:t>
            </a:r>
            <a:r>
              <a:rPr lang="en-US" altLang="en-GB" dirty="0">
                <a:latin typeface="Times New Roman" panose="02020603050405020304" charset="0"/>
                <a:cs typeface="Times New Roman" panose="02020603050405020304" charset="0"/>
              </a:rPr>
              <a:t>Uses MobileNetV2 as the base model (pretrained on ImageNet, include_top=False, initially frozen).</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Adds a Conv2D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BatchNormalization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ReLU </a:t>
            </a:r>
            <a:r>
              <a:rPr lang="en-US" altLang="en-US" dirty="0">
                <a:latin typeface="Times New Roman" panose="02020603050405020304" charset="0"/>
                <a:cs typeface="Times New Roman" panose="02020603050405020304" charset="0"/>
              </a:rPr>
              <a:t>→</a:t>
            </a:r>
            <a:r>
              <a:rPr lang="en-US" altLang="en-GB" dirty="0">
                <a:latin typeface="Times New Roman" panose="02020603050405020304" charset="0"/>
                <a:cs typeface="Times New Roman" panose="02020603050405020304" charset="0"/>
              </a:rPr>
              <a:t> ECA (Efficient Channel Attention) block.</a:t>
            </a:r>
            <a:endParaRPr lang="en-US" altLang="en-GB" dirty="0">
              <a:latin typeface="Times New Roman" panose="02020603050405020304" charset="0"/>
              <a:cs typeface="Times New Roman" panose="02020603050405020304" charset="0"/>
            </a:endParaRPr>
          </a:p>
          <a:p>
            <a:r>
              <a:rPr lang="en-US" altLang="en-GB" dirty="0">
                <a:latin typeface="Times New Roman" panose="02020603050405020304" charset="0"/>
                <a:cs typeface="Times New Roman" panose="02020603050405020304" charset="0"/>
              </a:rPr>
              <a:t>Followed by Global Average Pooling, Dropout, Dense(256, ReLU), another Dropout, and Dense(Softmax) for classification.</a:t>
            </a:r>
            <a:endParaRPr lang="en-US" altLang="en-GB" dirty="0">
              <a:latin typeface="Times New Roman" panose="02020603050405020304" charset="0"/>
              <a:cs typeface="Times New Roman" panose="02020603050405020304" charset="0"/>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4" name="Footer Placeholder 3"/>
          <p:cNvSpPr>
            <a:spLocks noGrp="1"/>
          </p:cNvSpPr>
          <p:nvPr>
            <p:ph type="ftr" idx="11"/>
          </p:nvPr>
        </p:nvSpPr>
        <p:spPr/>
        <p:txBody>
          <a:bodyPr/>
          <a:lstStyle/>
          <a:p>
            <a:r>
              <a:rPr lang="en-IN" dirty="0"/>
              <a:t>Mid-Term SDP , Dept. of CS &amp; IT</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68960" y="468630"/>
            <a:ext cx="10947400" cy="4828540"/>
          </a:xfrm>
        </p:spPr>
        <p:txBody>
          <a:bodyPr>
            <a:normAutofit/>
          </a:bodyPr>
          <a:lstStyle/>
          <a:p>
            <a:pPr>
              <a:buNone/>
            </a:pPr>
            <a:endParaRPr lang="en-US" sz="1800" dirty="0">
              <a:latin typeface="Times New Roman" panose="02020603050405020304" charset="0"/>
              <a:cs typeface="Times New Roman" panose="02020603050405020304" charset="0"/>
            </a:endParaRPr>
          </a:p>
          <a:p>
            <a:pPr>
              <a:buNone/>
            </a:pPr>
            <a:endParaRPr lang="en-US" sz="1600" dirty="0">
              <a:latin typeface="Times New Roman" panose="02020603050405020304" charset="0"/>
              <a:cs typeface="Times New Roman" panose="02020603050405020304" charset="0"/>
            </a:endParaRPr>
          </a:p>
        </p:txBody>
      </p:sp>
      <p:sp>
        <p:nvSpPr>
          <p:cNvPr id="4" name="Footer Placeholder 3"/>
          <p:cNvSpPr>
            <a:spLocks noGrp="1"/>
          </p:cNvSpPr>
          <p:nvPr>
            <p:ph type="ftr" idx="11"/>
          </p:nvPr>
        </p:nvSpPr>
        <p:spPr/>
        <p:txBody>
          <a:bodyPr/>
          <a:lstStyle/>
          <a:p>
            <a:r>
              <a:rPr lang="en-IN" dirty="0">
                <a:sym typeface="+mn-ea"/>
              </a:rPr>
              <a:t>Mid-Term SDP</a:t>
            </a:r>
            <a:r>
              <a:rPr lang="en-US" altLang="en-IN" dirty="0">
                <a:sym typeface="+mn-ea"/>
              </a:rPr>
              <a:t> , </a:t>
            </a:r>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sp>
        <p:nvSpPr>
          <p:cNvPr id="2" name="Text Box 1"/>
          <p:cNvSpPr txBox="1"/>
          <p:nvPr/>
        </p:nvSpPr>
        <p:spPr>
          <a:xfrm>
            <a:off x="452755" y="201930"/>
            <a:ext cx="11430000" cy="5384800"/>
          </a:xfrm>
          <a:prstGeom prst="rect">
            <a:avLst/>
          </a:prstGeom>
          <a:noFill/>
        </p:spPr>
        <p:txBody>
          <a:bodyPr wrap="square" rtlCol="0">
            <a:spAutoFit/>
          </a:bodyPr>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Phase 1: Train with base model frozen (20 epochs, learning rate = 1e-4).</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Phase 2: Unfreeze last 30 layers and fine-tune (10 epochs, learning rate = 1e-5).</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Uses categorical crossentropy with label smoothing.</a:t>
            </a:r>
            <a:endParaRPr lang="en-US" altLang="en-GB">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sz="1600" b="1">
                <a:latin typeface="Times New Roman" panose="02020603050405020304" charset="0"/>
                <a:cs typeface="Times New Roman" panose="02020603050405020304" charset="0"/>
              </a:rPr>
              <a:t>Weather Dashboard</a:t>
            </a:r>
            <a:endParaRPr lang="en-US" altLang="en-GB"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Built using the OpenMetro API to fetch weather data.</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Integrated with geolocation to retrieve user-specific forecasts.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Implemented with a responsive UI for dynamic, real-time updates.</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sz="1600" b="1">
                <a:latin typeface="Times New Roman" panose="02020603050405020304" charset="0"/>
                <a:cs typeface="Times New Roman" panose="02020603050405020304" charset="0"/>
              </a:rPr>
              <a:t>Warehouse Locator</a:t>
            </a:r>
            <a:endParaRPr lang="en-US" altLang="en-GB"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Developed using the OpenLayer Map API.</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Utilizes browser geolocation to center the map.</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Displays warehouse markers on an interactive map.</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b="1">
                <a:latin typeface="Times New Roman" panose="02020603050405020304" charset="0"/>
                <a:cs typeface="Times New Roman" panose="02020603050405020304" charset="0"/>
              </a:rPr>
              <a:t>Government Scheme</a:t>
            </a:r>
            <a:endParaRPr lang="en-US" altLang="en-GB" b="1">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a:latin typeface="Times New Roman" panose="02020603050405020304" charset="0"/>
                <a:cs typeface="Times New Roman" panose="02020603050405020304" charset="0"/>
              </a:rPr>
              <a:t>Rendered in the frontend using card-based UI with search and filters</a:t>
            </a:r>
            <a:r>
              <a:rPr lang="en-IN" altLang="en-US">
                <a:latin typeface="Times New Roman" panose="02020603050405020304" charset="0"/>
                <a:cs typeface="Times New Roman" panose="02020603050405020304" charset="0"/>
              </a:rPr>
              <a:t>	</a:t>
            </a:r>
            <a:endParaRPr lang="en-IN" altLang="en-US">
              <a:latin typeface="Times New Roman" panose="02020603050405020304" charset="0"/>
              <a:cs typeface="Times New Roman" panose="02020603050405020304" charset="0"/>
            </a:endParaRPr>
          </a:p>
          <a:p>
            <a:pPr marL="0" indent="0">
              <a:buFont typeface="Arial" panose="020B0604020202020204" pitchFamily="34" charset="0"/>
              <a:buNone/>
            </a:pPr>
            <a:r>
              <a:rPr lang="en-IN" altLang="en-US">
                <a:latin typeface="Times New Roman" panose="02020603050405020304" charset="0"/>
                <a:cs typeface="Times New Roman" panose="02020603050405020304" charset="0"/>
              </a:rPr>
              <a:t>	</a:t>
            </a:r>
            <a:endParaRPr lang="en-IN" altLang="en-US">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sz="1600" b="1">
                <a:latin typeface="Times New Roman" panose="02020603050405020304" charset="0"/>
                <a:cs typeface="Times New Roman" panose="02020603050405020304" charset="0"/>
              </a:rPr>
              <a:t>Training Videos</a:t>
            </a:r>
            <a:endParaRPr lang="en-US" altLang="en-GB"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Content </a:t>
            </a:r>
            <a:r>
              <a:rPr lang="en-IN" altLang="en-US">
                <a:latin typeface="Times New Roman" panose="02020603050405020304" charset="0"/>
                <a:cs typeface="Times New Roman" panose="02020603050405020304" charset="0"/>
              </a:rPr>
              <a:t>taken from</a:t>
            </a:r>
            <a:r>
              <a:rPr lang="en-US" altLang="en-GB">
                <a:latin typeface="Times New Roman" panose="02020603050405020304" charset="0"/>
                <a:cs typeface="Times New Roman" panose="02020603050405020304" charset="0"/>
              </a:rPr>
              <a:t> YouTube </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Integrated into a mobile-responsive dashboard with regional language support</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GB" sz="1600" b="1">
                <a:latin typeface="Times New Roman" panose="02020603050405020304" charset="0"/>
                <a:cs typeface="Times New Roman" panose="02020603050405020304" charset="0"/>
              </a:rPr>
              <a:t>Digital Marketplace</a:t>
            </a:r>
            <a:endParaRPr lang="en-US" altLang="en-GB"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Backend built with GraphQL APIs and JWT authentication</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Frontend built with a responsive product grid UI.</a:t>
            </a:r>
            <a:endParaRPr lang="en-US" altLang="en-GB">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GB">
                <a:latin typeface="Times New Roman" panose="02020603050405020304" charset="0"/>
                <a:cs typeface="Times New Roman" panose="02020603050405020304" charset="0"/>
              </a:rPr>
              <a:t>Includes seller portal for product uploads and inventory management.</a:t>
            </a:r>
            <a:endParaRPr lang="en-US" altLang="en-GB">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idx="11"/>
          </p:nvPr>
        </p:nvSpPr>
        <p:spPr/>
        <p:txBody>
          <a:bodyPr/>
          <a:p>
            <a:r>
              <a:rPr lang="en-IN"/>
              <a:t>Dept. of CS &amp; IT</a:t>
            </a:r>
            <a:endParaRPr lang="en-IN"/>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148" name="Google Shape;148;p21"/>
          <p:cNvSpPr/>
          <p:nvPr/>
        </p:nvSpPr>
        <p:spPr>
          <a:xfrm>
            <a:off x="279078" y="126570"/>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p>
            <a:pPr marL="0" marR="0" lvl="0" indent="0" algn="l" rtl="0">
              <a:spcBef>
                <a:spcPts val="0"/>
              </a:spcBef>
              <a:spcAft>
                <a:spcPts val="0"/>
              </a:spcAft>
              <a:buNone/>
            </a:pPr>
            <a:endParaRPr lang="en-IN" sz="2800" b="1" strike="noStrike" dirty="0">
              <a:solidFill>
                <a:srgbClr val="2E75B5"/>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Result Analysis</a:t>
            </a:r>
            <a:br>
              <a:rPr lang="en-US" sz="44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05311" y="216733"/>
            <a:ext cx="540000" cy="540000"/>
          </a:xfrm>
          <a:prstGeom prst="rect">
            <a:avLst/>
          </a:prstGeom>
          <a:noFill/>
          <a:ln>
            <a:noFill/>
          </a:ln>
        </p:spPr>
      </p:pic>
      <p:pic>
        <p:nvPicPr>
          <p:cNvPr id="3" name="Picture 2" descr="A close-up of a leaf&#10;&#10;AI-generated content may be incorrect."/>
          <p:cNvPicPr>
            <a:picLocks noChangeAspect="1"/>
          </p:cNvPicPr>
          <p:nvPr/>
        </p:nvPicPr>
        <p:blipFill>
          <a:blip r:embed="rId2"/>
          <a:stretch>
            <a:fillRect/>
          </a:stretch>
        </p:blipFill>
        <p:spPr>
          <a:xfrm>
            <a:off x="373380" y="936625"/>
            <a:ext cx="5672455" cy="2302510"/>
          </a:xfrm>
          <a:prstGeom prst="rect">
            <a:avLst/>
          </a:prstGeom>
        </p:spPr>
      </p:pic>
      <p:pic>
        <p:nvPicPr>
          <p:cNvPr id="6" name="Picture 5" descr="cnn(a)"/>
          <p:cNvPicPr>
            <a:picLocks noChangeAspect="1"/>
          </p:cNvPicPr>
          <p:nvPr/>
        </p:nvPicPr>
        <p:blipFill>
          <a:blip r:embed="rId3"/>
          <a:stretch>
            <a:fillRect/>
          </a:stretch>
        </p:blipFill>
        <p:spPr>
          <a:xfrm>
            <a:off x="6335395" y="981075"/>
            <a:ext cx="5463540" cy="2302510"/>
          </a:xfrm>
          <a:prstGeom prst="rect">
            <a:avLst/>
          </a:prstGeom>
        </p:spPr>
      </p:pic>
      <p:sp>
        <p:nvSpPr>
          <p:cNvPr id="7" name="Text Box 6"/>
          <p:cNvSpPr txBox="1"/>
          <p:nvPr/>
        </p:nvSpPr>
        <p:spPr>
          <a:xfrm>
            <a:off x="1268730" y="3418840"/>
            <a:ext cx="4185920" cy="440055"/>
          </a:xfrm>
          <a:prstGeom prst="rect">
            <a:avLst/>
          </a:prstGeom>
          <a:noFill/>
        </p:spPr>
        <p:txBody>
          <a:bodyPr wrap="square" rtlCol="0">
            <a:noAutofit/>
          </a:bodyPr>
          <a:p>
            <a:r>
              <a:rPr lang="en-IN" altLang="en-GB">
                <a:latin typeface="Times New Roman" panose="02020603050405020304" charset="0"/>
                <a:cs typeface="Times New Roman" panose="02020603050405020304" charset="0"/>
              </a:rPr>
              <a:t>MobileNetV2 with ECA Grad-CAM for apple black rot</a:t>
            </a:r>
            <a:endParaRPr lang="en-IN" altLang="en-GB" sz="1200">
              <a:latin typeface="Times New Roman" panose="02020603050405020304" charset="0"/>
              <a:cs typeface="Times New Roman" panose="02020603050405020304" charset="0"/>
            </a:endParaRPr>
          </a:p>
          <a:p>
            <a:endParaRPr lang="en-IN" altLang="en-GB" sz="1200">
              <a:latin typeface="Times New Roman" panose="02020603050405020304" charset="0"/>
              <a:cs typeface="Times New Roman" panose="02020603050405020304" charset="0"/>
            </a:endParaRPr>
          </a:p>
        </p:txBody>
      </p:sp>
      <p:sp>
        <p:nvSpPr>
          <p:cNvPr id="8" name="Text Box 7"/>
          <p:cNvSpPr txBox="1"/>
          <p:nvPr/>
        </p:nvSpPr>
        <p:spPr>
          <a:xfrm>
            <a:off x="6786880" y="3418840"/>
            <a:ext cx="4685665" cy="306705"/>
          </a:xfrm>
          <a:prstGeom prst="rect">
            <a:avLst/>
          </a:prstGeom>
          <a:noFill/>
        </p:spPr>
        <p:txBody>
          <a:bodyPr wrap="square" rtlCol="0">
            <a:spAutoFit/>
          </a:bodyPr>
          <a:p>
            <a:r>
              <a:rPr lang="en-IN" altLang="en-GB">
                <a:latin typeface="Times New Roman" panose="02020603050405020304" charset="0"/>
                <a:cs typeface="Times New Roman" panose="02020603050405020304" charset="0"/>
              </a:rPr>
              <a:t>Custom CNN with ECA Grad-CAM for Apple Black Rot</a:t>
            </a:r>
            <a:endParaRPr lang="en-IN" altLang="en-GB">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1"/>
          <p:cNvSpPr txBox="1">
            <a:spLocks noGrp="1"/>
          </p:cNvSpPr>
          <p:nvPr>
            <p:ph type="body" idx="1"/>
          </p:nvPr>
        </p:nvSpPr>
        <p:spPr>
          <a:xfrm>
            <a:off x="719137" y="1290918"/>
            <a:ext cx="10753725" cy="54305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sz="3600" dirty="0"/>
          </a:p>
          <a:p>
            <a:pPr marL="0" lvl="0" indent="0" algn="l" rtl="0">
              <a:lnSpc>
                <a:spcPct val="90000"/>
              </a:lnSpc>
              <a:spcBef>
                <a:spcPts val="0"/>
              </a:spcBef>
              <a:spcAft>
                <a:spcPts val="0"/>
              </a:spcAft>
              <a:buNone/>
            </a:pPr>
            <a:endParaRPr sz="3600" dirty="0"/>
          </a:p>
          <a:p>
            <a:pPr marL="228600" lvl="0" indent="-114300" algn="l" rtl="0">
              <a:lnSpc>
                <a:spcPct val="90000"/>
              </a:lnSpc>
              <a:spcBef>
                <a:spcPts val="1000"/>
              </a:spcBef>
              <a:spcAft>
                <a:spcPts val="0"/>
              </a:spcAft>
              <a:buClr>
                <a:schemeClr val="dk1"/>
              </a:buClr>
              <a:buSzPts val="1800"/>
              <a:buFont typeface="Noto Sans Symbols"/>
              <a:buNone/>
            </a:pPr>
            <a:endParaRPr sz="1800" dirty="0"/>
          </a:p>
        </p:txBody>
      </p:sp>
      <p:sp>
        <p:nvSpPr>
          <p:cNvPr id="147" name="Google Shape;14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48" name="Google Shape;148;p21"/>
          <p:cNvSpPr/>
          <p:nvPr/>
        </p:nvSpPr>
        <p:spPr>
          <a:xfrm>
            <a:off x="451163"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lang="en-IN" sz="2800" b="1" strike="noStrike" dirty="0">
              <a:solidFill>
                <a:srgbClr val="2E75B5"/>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Result Analysis</a:t>
            </a:r>
            <a:br>
              <a:rPr lang="en-US" sz="44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,Dept. of CS &amp; IT</a:t>
            </a:r>
            <a:endParaRPr lang="en-IN" dirty="0"/>
          </a:p>
        </p:txBody>
      </p:sp>
      <p:pic>
        <p:nvPicPr>
          <p:cNvPr id="10" name="Picture 9" descr="Screenshot 2025-06-10 170427"/>
          <p:cNvPicPr>
            <a:picLocks noChangeAspect="1"/>
          </p:cNvPicPr>
          <p:nvPr/>
        </p:nvPicPr>
        <p:blipFill>
          <a:blip r:embed="rId2"/>
          <a:stretch>
            <a:fillRect/>
          </a:stretch>
        </p:blipFill>
        <p:spPr>
          <a:xfrm>
            <a:off x="718820" y="1408430"/>
            <a:ext cx="10648315" cy="2738755"/>
          </a:xfrm>
          <a:prstGeom prst="rect">
            <a:avLst/>
          </a:prstGeom>
        </p:spPr>
      </p:pic>
      <p:sp>
        <p:nvSpPr>
          <p:cNvPr id="12" name="Text Box 11"/>
          <p:cNvSpPr txBox="1"/>
          <p:nvPr/>
        </p:nvSpPr>
        <p:spPr>
          <a:xfrm>
            <a:off x="993775" y="4364355"/>
            <a:ext cx="9509125" cy="306705"/>
          </a:xfrm>
          <a:prstGeom prst="rect">
            <a:avLst/>
          </a:prstGeom>
          <a:noFill/>
        </p:spPr>
        <p:txBody>
          <a:bodyPr wrap="square" rtlCol="0">
            <a:spAutoFit/>
          </a:bodyPr>
          <a:p>
            <a:r>
              <a:rPr lang="en-IN" altLang="en-GB"/>
              <a:t>Training log showing accuracy of 79% using  xgboost  for crop recommednation</a:t>
            </a:r>
            <a:endParaRPr lang="en-IN" alt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idx="11"/>
          </p:nvPr>
        </p:nvSpPr>
        <p:spPr/>
        <p:txBody>
          <a:bodyPr/>
          <a:lstStyle/>
          <a:p>
            <a:r>
              <a:rPr lang="en-IN"/>
              <a:t>Dept. of CS &amp; IT</a:t>
            </a:r>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fld>
            <a:endParaRPr lang="en-US"/>
          </a:p>
        </p:txBody>
      </p:sp>
      <p:pic>
        <p:nvPicPr>
          <p:cNvPr id="2" name="Picture 1" descr="Figure_1(mv2 eba)"/>
          <p:cNvPicPr>
            <a:picLocks noChangeAspect="1"/>
          </p:cNvPicPr>
          <p:nvPr/>
        </p:nvPicPr>
        <p:blipFill>
          <a:blip r:embed="rId1"/>
          <a:stretch>
            <a:fillRect/>
          </a:stretch>
        </p:blipFill>
        <p:spPr>
          <a:xfrm>
            <a:off x="328295" y="182880"/>
            <a:ext cx="7694295" cy="3345180"/>
          </a:xfrm>
          <a:prstGeom prst="rect">
            <a:avLst/>
          </a:prstGeom>
        </p:spPr>
      </p:pic>
      <p:pic>
        <p:nvPicPr>
          <p:cNvPr id="3" name="Picture 2" descr="cnn3"/>
          <p:cNvPicPr>
            <a:picLocks noChangeAspect="1"/>
          </p:cNvPicPr>
          <p:nvPr/>
        </p:nvPicPr>
        <p:blipFill>
          <a:blip r:embed="rId2"/>
          <a:stretch>
            <a:fillRect/>
          </a:stretch>
        </p:blipFill>
        <p:spPr>
          <a:xfrm>
            <a:off x="328295" y="3528060"/>
            <a:ext cx="7693660" cy="2981325"/>
          </a:xfrm>
          <a:prstGeom prst="rect">
            <a:avLst/>
          </a:prstGeom>
        </p:spPr>
      </p:pic>
      <p:sp>
        <p:nvSpPr>
          <p:cNvPr id="9" name="Text Box 8"/>
          <p:cNvSpPr txBox="1"/>
          <p:nvPr/>
        </p:nvSpPr>
        <p:spPr>
          <a:xfrm>
            <a:off x="8208010" y="471805"/>
            <a:ext cx="3810000" cy="737235"/>
          </a:xfrm>
          <a:prstGeom prst="rect">
            <a:avLst/>
          </a:prstGeom>
          <a:noFill/>
        </p:spPr>
        <p:txBody>
          <a:bodyPr wrap="square" rtlCol="0">
            <a:spAutoFit/>
          </a:bodyPr>
          <a:p>
            <a:r>
              <a:rPr lang="en-IN" altLang="en-GB"/>
              <a:t>Model:MobileNetV2</a:t>
            </a:r>
            <a:endParaRPr lang="en-IN" altLang="en-GB"/>
          </a:p>
          <a:p>
            <a:r>
              <a:rPr lang="en-IN" altLang="en-GB"/>
              <a:t>epoch:30</a:t>
            </a:r>
            <a:endParaRPr lang="en-IN" altLang="en-GB"/>
          </a:p>
          <a:p>
            <a:r>
              <a:rPr lang="en-IN" altLang="en-GB"/>
              <a:t>accuracy:96.93</a:t>
            </a:r>
            <a:endParaRPr lang="en-IN" altLang="en-GB"/>
          </a:p>
        </p:txBody>
      </p:sp>
      <p:sp>
        <p:nvSpPr>
          <p:cNvPr id="11" name="Text Box 10"/>
          <p:cNvSpPr txBox="1"/>
          <p:nvPr/>
        </p:nvSpPr>
        <p:spPr>
          <a:xfrm>
            <a:off x="8390890" y="3848100"/>
            <a:ext cx="3183255" cy="737235"/>
          </a:xfrm>
          <a:prstGeom prst="rect">
            <a:avLst/>
          </a:prstGeom>
          <a:noFill/>
        </p:spPr>
        <p:txBody>
          <a:bodyPr wrap="square" rtlCol="0">
            <a:spAutoFit/>
          </a:bodyPr>
          <a:p>
            <a:r>
              <a:rPr lang="en-IN" altLang="en-GB"/>
              <a:t>Model:Custom CNN</a:t>
            </a:r>
            <a:endParaRPr lang="en-IN" altLang="en-GB"/>
          </a:p>
          <a:p>
            <a:r>
              <a:rPr lang="en-IN" altLang="en-GB"/>
              <a:t>epochs:50</a:t>
            </a:r>
            <a:endParaRPr lang="en-IN" altLang="en-GB"/>
          </a:p>
          <a:p>
            <a:r>
              <a:rPr lang="en-IN" altLang="en-GB"/>
              <a:t>accuracy:80.63</a:t>
            </a:r>
            <a:endParaRPr lang="en-IN" alt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Footer Placeholder 3"/>
          <p:cNvSpPr>
            <a:spLocks noGrp="1"/>
          </p:cNvSpPr>
          <p:nvPr>
            <p:ph type="ftr" idx="11"/>
          </p:nvPr>
        </p:nvSpPr>
        <p:spPr/>
        <p:txBody>
          <a:bodyPr/>
          <a:p>
            <a:r>
              <a:rPr lang="en-IN"/>
              <a:t>Dept. of CS &amp; IT</a:t>
            </a:r>
            <a:endParaRPr lang="en-IN"/>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6" name="Picture 5" descr="Screenshot 2025-06-11 023107"/>
          <p:cNvPicPr>
            <a:picLocks noChangeAspect="1"/>
          </p:cNvPicPr>
          <p:nvPr/>
        </p:nvPicPr>
        <p:blipFill>
          <a:blip r:embed="rId1"/>
          <a:stretch>
            <a:fillRect/>
          </a:stretch>
        </p:blipFill>
        <p:spPr>
          <a:xfrm>
            <a:off x="207010" y="93345"/>
            <a:ext cx="5739130" cy="2585720"/>
          </a:xfrm>
          <a:prstGeom prst="rect">
            <a:avLst/>
          </a:prstGeom>
        </p:spPr>
      </p:pic>
      <p:pic>
        <p:nvPicPr>
          <p:cNvPr id="7" name="Picture 6" descr="Screenshot 2025-05-24 083859"/>
          <p:cNvPicPr>
            <a:picLocks noChangeAspect="1"/>
          </p:cNvPicPr>
          <p:nvPr/>
        </p:nvPicPr>
        <p:blipFill>
          <a:blip r:embed="rId2"/>
          <a:stretch>
            <a:fillRect/>
          </a:stretch>
        </p:blipFill>
        <p:spPr>
          <a:xfrm>
            <a:off x="607060" y="3161030"/>
            <a:ext cx="4958080" cy="2809240"/>
          </a:xfrm>
          <a:prstGeom prst="rect">
            <a:avLst/>
          </a:prstGeom>
        </p:spPr>
      </p:pic>
      <p:pic>
        <p:nvPicPr>
          <p:cNvPr id="8" name="Picture 7" descr="screencapture-localhost-3000-training-2025-06-09-00_03_25"/>
          <p:cNvPicPr>
            <a:picLocks noChangeAspect="1"/>
          </p:cNvPicPr>
          <p:nvPr/>
        </p:nvPicPr>
        <p:blipFill>
          <a:blip r:embed="rId3"/>
          <a:stretch>
            <a:fillRect/>
          </a:stretch>
        </p:blipFill>
        <p:spPr>
          <a:xfrm>
            <a:off x="6210935" y="93345"/>
            <a:ext cx="2724150" cy="4534535"/>
          </a:xfrm>
          <a:prstGeom prst="rect">
            <a:avLst/>
          </a:prstGeom>
        </p:spPr>
      </p:pic>
      <p:sp>
        <p:nvSpPr>
          <p:cNvPr id="10" name="Text Box 9"/>
          <p:cNvSpPr txBox="1"/>
          <p:nvPr/>
        </p:nvSpPr>
        <p:spPr>
          <a:xfrm>
            <a:off x="6960235" y="4789170"/>
            <a:ext cx="1417955" cy="393065"/>
          </a:xfrm>
          <a:prstGeom prst="rect">
            <a:avLst/>
          </a:prstGeom>
          <a:noFill/>
        </p:spPr>
        <p:txBody>
          <a:bodyPr wrap="square" rtlCol="0">
            <a:noAutofit/>
          </a:bodyPr>
          <a:p>
            <a:r>
              <a:rPr lang="en-IN" altLang="en-GB"/>
              <a:t>Training page</a:t>
            </a:r>
            <a:endParaRPr lang="en-IN" altLang="en-GB"/>
          </a:p>
        </p:txBody>
      </p:sp>
      <p:sp>
        <p:nvSpPr>
          <p:cNvPr id="11" name="Text Box 10"/>
          <p:cNvSpPr txBox="1"/>
          <p:nvPr/>
        </p:nvSpPr>
        <p:spPr>
          <a:xfrm>
            <a:off x="1468120" y="6180455"/>
            <a:ext cx="3216275" cy="306705"/>
          </a:xfrm>
          <a:prstGeom prst="rect">
            <a:avLst/>
          </a:prstGeom>
          <a:noFill/>
        </p:spPr>
        <p:txBody>
          <a:bodyPr wrap="square" rtlCol="0">
            <a:spAutoFit/>
          </a:bodyPr>
          <a:p>
            <a:r>
              <a:rPr lang="en-IN" altLang="en-GB"/>
              <a:t>Crop recommedantion page</a:t>
            </a:r>
            <a:endParaRPr lang="en-IN" altLang="en-GB"/>
          </a:p>
        </p:txBody>
      </p:sp>
      <p:sp>
        <p:nvSpPr>
          <p:cNvPr id="13" name="Text Box 12"/>
          <p:cNvSpPr txBox="1"/>
          <p:nvPr/>
        </p:nvSpPr>
        <p:spPr>
          <a:xfrm>
            <a:off x="1330325" y="2854325"/>
            <a:ext cx="3511550" cy="306705"/>
          </a:xfrm>
          <a:prstGeom prst="rect">
            <a:avLst/>
          </a:prstGeom>
          <a:noFill/>
        </p:spPr>
        <p:txBody>
          <a:bodyPr wrap="square" rtlCol="0">
            <a:spAutoFit/>
          </a:bodyPr>
          <a:p>
            <a:r>
              <a:rPr lang="en-IN" altLang="en-GB"/>
              <a:t>Plant disease detection page</a:t>
            </a:r>
            <a:endParaRPr lang="en-IN" altLang="en-GB"/>
          </a:p>
        </p:txBody>
      </p:sp>
      <p:pic>
        <p:nvPicPr>
          <p:cNvPr id="14" name="Picture 13" descr="screencapture-localhost-3000-shop-2025-06-09-00_12_23"/>
          <p:cNvPicPr>
            <a:picLocks noChangeAspect="1"/>
          </p:cNvPicPr>
          <p:nvPr/>
        </p:nvPicPr>
        <p:blipFill>
          <a:blip r:embed="rId4"/>
          <a:stretch>
            <a:fillRect/>
          </a:stretch>
        </p:blipFill>
        <p:spPr>
          <a:xfrm>
            <a:off x="9199880" y="93345"/>
            <a:ext cx="2746375" cy="4524375"/>
          </a:xfrm>
          <a:prstGeom prst="rect">
            <a:avLst/>
          </a:prstGeom>
        </p:spPr>
      </p:pic>
      <p:sp>
        <p:nvSpPr>
          <p:cNvPr id="15" name="Text Box 14"/>
          <p:cNvSpPr txBox="1"/>
          <p:nvPr/>
        </p:nvSpPr>
        <p:spPr>
          <a:xfrm>
            <a:off x="10200640" y="4875530"/>
            <a:ext cx="1745615" cy="306705"/>
          </a:xfrm>
          <a:prstGeom prst="rect">
            <a:avLst/>
          </a:prstGeom>
          <a:noFill/>
        </p:spPr>
        <p:txBody>
          <a:bodyPr wrap="square" rtlCol="0">
            <a:spAutoFit/>
          </a:bodyPr>
          <a:p>
            <a:r>
              <a:rPr lang="en-IN" altLang="en-GB"/>
              <a:t>Shop</a:t>
            </a:r>
            <a:endParaRPr lang="en-IN" alt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body" idx="1"/>
          </p:nvPr>
        </p:nvSpPr>
        <p:spPr>
          <a:xfrm>
            <a:off x="719137" y="1290918"/>
            <a:ext cx="10753725" cy="5430557"/>
          </a:xfrm>
          <a:prstGeom prst="rect">
            <a:avLst/>
          </a:prstGeom>
          <a:noFill/>
          <a:ln>
            <a:noFill/>
          </a:ln>
        </p:spPr>
        <p:txBody>
          <a:bodyPr spcFirstLastPara="1" wrap="square" lIns="91425" tIns="45700" rIns="91425" bIns="45700" anchor="t" anchorCtr="0">
            <a:normAutofit/>
          </a:bodyPr>
          <a:lstStyle/>
          <a:p>
            <a:pPr marL="640080" lvl="1" indent="-237490">
              <a:lnSpc>
                <a:spcPct val="200000"/>
              </a:lnSpc>
              <a:spcBef>
                <a:spcPts val="0"/>
              </a:spcBef>
              <a:buClr>
                <a:srgbClr val="3891A7"/>
              </a:buClr>
              <a:buSzPts val="2400"/>
            </a:pPr>
            <a:r>
              <a:rPr lang="en-US" sz="2000" b="1" dirty="0">
                <a:solidFill>
                  <a:srgbClr val="000000"/>
                </a:solidFill>
                <a:latin typeface="Times New Roman" panose="02020603050405020304" charset="0"/>
                <a:ea typeface="Gill Sans" panose="020B0502020104020203"/>
                <a:cs typeface="Times New Roman" panose="02020603050405020304" charset="0"/>
              </a:rPr>
              <a:t>Key Findings:</a:t>
            </a:r>
            <a:endParaRPr lang="en-US"/>
          </a:p>
          <a:p>
            <a:pPr marL="745490" lvl="1" algn="just">
              <a:lnSpc>
                <a:spcPct val="150000"/>
              </a:lnSpc>
              <a:spcBef>
                <a:spcPts val="0"/>
              </a:spcBef>
            </a:pPr>
            <a:r>
              <a:rPr lang="en-US" sz="1600" dirty="0">
                <a:solidFill>
                  <a:srgbClr val="000000"/>
                </a:solidFill>
                <a:latin typeface="Times New Roman" panose="02020603050405020304" charset="0"/>
                <a:cs typeface="Times New Roman" panose="02020603050405020304" charset="0"/>
              </a:rPr>
              <a:t>The MobileNetV2-based crop disease detection model, enhanced with CBAM attention modules, achieved strong classification accuracy while maintaining computational efficiency suitable for edge deployment.</a:t>
            </a:r>
            <a:endParaRPr lang="en-US" sz="1600" dirty="0">
              <a:solidFill>
                <a:srgbClr val="000000"/>
              </a:solidFill>
              <a:latin typeface="Times New Roman" panose="02020603050405020304" charset="0"/>
              <a:cs typeface="Times New Roman" panose="02020603050405020304" charset="0"/>
            </a:endParaRPr>
          </a:p>
          <a:p>
            <a:pPr marL="745490" lvl="1" algn="just">
              <a:lnSpc>
                <a:spcPct val="150000"/>
              </a:lnSpc>
              <a:spcBef>
                <a:spcPts val="0"/>
              </a:spcBef>
            </a:pPr>
            <a:r>
              <a:rPr lang="en-US" sz="1600" dirty="0">
                <a:latin typeface="Times New Roman" panose="02020603050405020304" charset="0"/>
                <a:cs typeface="Times New Roman" panose="02020603050405020304" charset="0"/>
              </a:rPr>
              <a:t>Data augmentation and transfer learning improved the model’s robustness across multiple disease classes and varied environmental conditions.</a:t>
            </a:r>
            <a:endParaRPr lang="en-US" sz="1600" dirty="0">
              <a:latin typeface="Times New Roman" panose="02020603050405020304" charset="0"/>
              <a:cs typeface="Times New Roman" panose="02020603050405020304" charset="0"/>
            </a:endParaRPr>
          </a:p>
          <a:p>
            <a:pPr marL="745490" lvl="1" algn="just">
              <a:lnSpc>
                <a:spcPct val="150000"/>
              </a:lnSpc>
              <a:spcBef>
                <a:spcPts val="0"/>
              </a:spcBef>
            </a:pPr>
            <a:r>
              <a:rPr lang="en-US" sz="1600" dirty="0">
                <a:latin typeface="Times New Roman" panose="02020603050405020304" charset="0"/>
                <a:cs typeface="Times New Roman" panose="02020603050405020304" charset="0"/>
              </a:rPr>
              <a:t>Grad-CAM visualizations validated that the model’s predictions rely on disease-affected leaf regions, increasing interpretability </a:t>
            </a:r>
            <a:endParaRPr lang="en-US" sz="1600" dirty="0">
              <a:latin typeface="Times New Roman" panose="02020603050405020304" charset="0"/>
              <a:cs typeface="Times New Roman" panose="02020603050405020304" charset="0"/>
            </a:endParaRPr>
          </a:p>
          <a:p>
            <a:pPr marL="745490" lvl="1" algn="just">
              <a:lnSpc>
                <a:spcPct val="150000"/>
              </a:lnSpc>
              <a:spcBef>
                <a:spcPts val="0"/>
              </a:spcBef>
            </a:pPr>
            <a:r>
              <a:rPr lang="en-US" sz="1600" dirty="0">
                <a:latin typeface="Times New Roman" panose="02020603050405020304" charset="0"/>
                <a:cs typeface="Times New Roman" panose="02020603050405020304" charset="0"/>
              </a:rPr>
              <a:t>MobileNetV2, while efficient, may have limitations in capturing very subtle or complex disease symptoms compared to larger, more powerful architectures.</a:t>
            </a:r>
            <a:endParaRPr lang="en-US" sz="1600" dirty="0">
              <a:latin typeface="Times New Roman" panose="02020603050405020304" charset="0"/>
              <a:cs typeface="Times New Roman" panose="02020603050405020304" charset="0"/>
            </a:endParaRPr>
          </a:p>
          <a:p>
            <a:pPr marL="745490" lvl="1" algn="just">
              <a:lnSpc>
                <a:spcPct val="150000"/>
              </a:lnSpc>
              <a:spcBef>
                <a:spcPts val="0"/>
              </a:spcBef>
            </a:pPr>
            <a:r>
              <a:rPr lang="en-US" sz="1600" dirty="0">
                <a:latin typeface="Times New Roman" panose="02020603050405020304" charset="0"/>
                <a:cs typeface="Times New Roman" panose="02020603050405020304" charset="0"/>
              </a:rPr>
              <a:t>The model’s performance depends heavily on the quality and diversity of training data; rare diseases or unseen environmental conditions may reduce accuracy.</a:t>
            </a:r>
            <a:endParaRPr lang="en-US" sz="1600" dirty="0">
              <a:latin typeface="Times New Roman" panose="02020603050405020304" charset="0"/>
              <a:cs typeface="Times New Roman" panose="02020603050405020304" charset="0"/>
            </a:endParaRPr>
          </a:p>
          <a:p>
            <a:pPr lvl="1"/>
            <a:endParaRPr lang="en-US" dirty="0"/>
          </a:p>
          <a:p>
            <a:pPr marL="745490" lvl="1">
              <a:lnSpc>
                <a:spcPct val="100000"/>
              </a:lnSpc>
              <a:spcBef>
                <a:spcPts val="0"/>
              </a:spcBef>
            </a:pPr>
            <a:endParaRPr lang="en-US" dirty="0"/>
          </a:p>
        </p:txBody>
      </p:sp>
      <p:sp>
        <p:nvSpPr>
          <p:cNvPr id="170" name="Google Shape;17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1" name="Google Shape;171;p24"/>
          <p:cNvSpPr/>
          <p:nvPr/>
        </p:nvSpPr>
        <p:spPr>
          <a:xfrm>
            <a:off x="451163"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lang="en-IN" sz="2800" b="1" dirty="0">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Conclusions </a:t>
            </a:r>
            <a:br>
              <a:rPr lang="en-US" sz="2800" dirty="0">
                <a:solidFill>
                  <a:srgbClr val="2E75B5"/>
                </a:solidFill>
                <a:latin typeface="Calibri" panose="020F0502020204030204"/>
                <a:ea typeface="Calibri" panose="020F0502020204030204"/>
                <a:cs typeface="Calibri" panose="020F0502020204030204"/>
                <a:sym typeface="Calibri" panose="020F05020202040302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 Dept. of CS &amp; IT</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body" idx="1"/>
          </p:nvPr>
        </p:nvSpPr>
        <p:spPr>
          <a:xfrm>
            <a:off x="718820" y="1610360"/>
            <a:ext cx="10753725" cy="5111115"/>
          </a:xfrm>
          <a:prstGeom prst="rect">
            <a:avLst/>
          </a:prstGeom>
          <a:noFill/>
          <a:ln>
            <a:noFill/>
          </a:ln>
        </p:spPr>
        <p:txBody>
          <a:bodyPr spcFirstLastPara="1" wrap="square" lIns="91425" tIns="45700" rIns="91425" bIns="45700" anchor="t" anchorCtr="0">
            <a:normAutofit/>
          </a:bodyPr>
          <a:lstStyle/>
          <a:p>
            <a:pPr marL="640080" lvl="1" indent="-237490" algn="just">
              <a:lnSpc>
                <a:spcPct val="100000"/>
              </a:lnSpc>
              <a:spcBef>
                <a:spcPts val="0"/>
              </a:spcBef>
              <a:buClr>
                <a:srgbClr val="3891A7"/>
              </a:buClr>
              <a:buSzPts val="2400"/>
              <a:buFont typeface="Noto Sans Symbols"/>
              <a:buChar char="▪"/>
            </a:pPr>
            <a:r>
              <a:rPr lang="en-US" sz="1600" b="1" dirty="0">
                <a:solidFill>
                  <a:srgbClr val="000000"/>
                </a:solidFill>
                <a:latin typeface="Times New Roman" panose="02020603050405020304" charset="0"/>
                <a:cs typeface="Times New Roman" panose="02020603050405020304" charset="0"/>
              </a:rPr>
              <a:t>Support for More Crop Types and Diseases</a:t>
            </a:r>
            <a:r>
              <a:rPr lang="en-US" sz="1600" dirty="0">
                <a:solidFill>
                  <a:srgbClr val="000000"/>
                </a:solidFill>
                <a:latin typeface="Times New Roman" panose="02020603050405020304" charset="0"/>
                <a:cs typeface="Times New Roman" panose="02020603050405020304" charset="0"/>
              </a:rPr>
              <a:t>: Expand the dataset to include more crops and rare </a:t>
            </a:r>
            <a:r>
              <a:rPr lang="en-US" sz="1600">
                <a:solidFill>
                  <a:srgbClr val="000000"/>
                </a:solidFill>
                <a:latin typeface="Times New Roman" panose="02020603050405020304" charset="0"/>
                <a:cs typeface="Times New Roman" panose="02020603050405020304" charset="0"/>
              </a:rPr>
              <a:t>disease classes, improving generalizability across diverse agricultural zones.</a:t>
            </a:r>
            <a:endParaRPr lang="en-US" sz="1600">
              <a:solidFill>
                <a:srgbClr val="000000"/>
              </a:solidFill>
              <a:latin typeface="Times New Roman" panose="02020603050405020304" charset="0"/>
              <a:cs typeface="Times New Roman" panose="02020603050405020304" charset="0"/>
            </a:endParaRPr>
          </a:p>
          <a:p>
            <a:pPr marL="640080" lvl="1" indent="-237490" algn="just">
              <a:lnSpc>
                <a:spcPct val="100000"/>
              </a:lnSpc>
              <a:spcBef>
                <a:spcPts val="0"/>
              </a:spcBef>
              <a:buClr>
                <a:srgbClr val="3891A7"/>
              </a:buClr>
              <a:buSzPts val="2400"/>
              <a:buFont typeface="Noto Sans Symbols"/>
              <a:buChar char="▪"/>
            </a:pPr>
            <a:endParaRPr lang="en-US" sz="1600" dirty="0">
              <a:solidFill>
                <a:srgbClr val="000000"/>
              </a:solidFill>
              <a:latin typeface="Times New Roman" panose="02020603050405020304" charset="0"/>
              <a:cs typeface="Times New Roman" panose="02020603050405020304" charset="0"/>
            </a:endParaRPr>
          </a:p>
          <a:p>
            <a:pPr marL="640080" lvl="1" indent="-237490" algn="just">
              <a:lnSpc>
                <a:spcPct val="100000"/>
              </a:lnSpc>
              <a:spcBef>
                <a:spcPts val="0"/>
              </a:spcBef>
              <a:buClr>
                <a:srgbClr val="3891A7"/>
              </a:buClr>
              <a:buSzPts val="2400"/>
              <a:buFont typeface="Noto Sans Symbols"/>
              <a:buChar char="▪"/>
            </a:pPr>
            <a:r>
              <a:rPr lang="en-US" sz="1600" b="1" dirty="0">
                <a:solidFill>
                  <a:srgbClr val="000000"/>
                </a:solidFill>
                <a:latin typeface="Times New Roman" panose="02020603050405020304" charset="0"/>
                <a:cs typeface="Times New Roman" panose="02020603050405020304" charset="0"/>
              </a:rPr>
              <a:t>Self-Supervised and Semi-Supervised Learning</a:t>
            </a:r>
            <a:r>
              <a:rPr lang="en-US" sz="1600" dirty="0">
                <a:solidFill>
                  <a:srgbClr val="000000"/>
                </a:solidFill>
                <a:latin typeface="Times New Roman" panose="02020603050405020304" charset="0"/>
                <a:cs typeface="Times New Roman" panose="02020603050405020304" charset="0"/>
              </a:rPr>
              <a:t>: Explore learning from unlabeled or partially labeled data to reduce dependency on expert-annotated datasets.</a:t>
            </a:r>
            <a:endParaRPr lang="en-US" sz="1600" dirty="0">
              <a:solidFill>
                <a:srgbClr val="000000"/>
              </a:solidFill>
              <a:latin typeface="Times New Roman" panose="02020603050405020304" charset="0"/>
              <a:cs typeface="Times New Roman" panose="02020603050405020304" charset="0"/>
            </a:endParaRPr>
          </a:p>
          <a:p>
            <a:pPr marL="640080" lvl="1" indent="-237490" algn="just">
              <a:lnSpc>
                <a:spcPct val="100000"/>
              </a:lnSpc>
              <a:spcBef>
                <a:spcPts val="0"/>
              </a:spcBef>
              <a:buClr>
                <a:srgbClr val="3891A7"/>
              </a:buClr>
              <a:buSzPts val="2400"/>
              <a:buFont typeface="Noto Sans Symbols"/>
              <a:buChar char="▪"/>
            </a:pPr>
            <a:endParaRPr lang="en-US" sz="1600" dirty="0">
              <a:solidFill>
                <a:srgbClr val="000000"/>
              </a:solidFill>
              <a:latin typeface="Times New Roman" panose="02020603050405020304" charset="0"/>
              <a:cs typeface="Times New Roman" panose="02020603050405020304" charset="0"/>
            </a:endParaRPr>
          </a:p>
          <a:p>
            <a:pPr marL="640080" lvl="1" indent="-237490" algn="just">
              <a:lnSpc>
                <a:spcPct val="100000"/>
              </a:lnSpc>
              <a:spcBef>
                <a:spcPts val="0"/>
              </a:spcBef>
              <a:buClr>
                <a:srgbClr val="3891A7"/>
              </a:buClr>
              <a:buSzPts val="2400"/>
              <a:buFont typeface="Noto Sans Symbols"/>
              <a:buChar char="▪"/>
            </a:pPr>
            <a:r>
              <a:rPr lang="en-US" sz="1600" b="1" dirty="0">
                <a:solidFill>
                  <a:srgbClr val="000000"/>
                </a:solidFill>
                <a:latin typeface="Times New Roman" panose="02020603050405020304" charset="0"/>
                <a:cs typeface="Times New Roman" panose="02020603050405020304" charset="0"/>
              </a:rPr>
              <a:t>Explainability and Farmer-Friendly Interface</a:t>
            </a:r>
            <a:r>
              <a:rPr lang="en-US" sz="1600" dirty="0">
                <a:solidFill>
                  <a:srgbClr val="000000"/>
                </a:solidFill>
                <a:latin typeface="Times New Roman" panose="02020603050405020304" charset="0"/>
                <a:cs typeface="Times New Roman" panose="02020603050405020304" charset="0"/>
              </a:rPr>
              <a:t>: Enhance the system's usability with localized language support, visual cues (via Grad-CAM), and actionable recommendations.</a:t>
            </a:r>
            <a:endParaRPr lang="en-US" sz="1600" dirty="0">
              <a:solidFill>
                <a:srgbClr val="000000"/>
              </a:solidFill>
              <a:latin typeface="Times New Roman" panose="02020603050405020304" charset="0"/>
              <a:cs typeface="Times New Roman" panose="02020603050405020304" charset="0"/>
            </a:endParaRPr>
          </a:p>
        </p:txBody>
      </p:sp>
      <p:sp>
        <p:nvSpPr>
          <p:cNvPr id="170" name="Google Shape;17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71" name="Google Shape;171;p24"/>
          <p:cNvSpPr/>
          <p:nvPr/>
        </p:nvSpPr>
        <p:spPr>
          <a:xfrm>
            <a:off x="451164"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2800" b="1" dirty="0">
                <a:solidFill>
                  <a:srgbClr val="2E75B5"/>
                </a:solidFill>
                <a:latin typeface="Times New Roman" panose="02020603050405020304"/>
                <a:ea typeface="Times New Roman" panose="02020603050405020304"/>
                <a:cs typeface="Times New Roman" panose="02020603050405020304"/>
                <a:sym typeface="Times New Roman" panose="02020603050405020304"/>
              </a:rPr>
              <a:t>	</a:t>
            </a:r>
            <a:endParaRPr lang="en-IN" sz="2800" b="1" dirty="0">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Future Scope </a:t>
            </a:r>
            <a:br>
              <a:rPr lang="en-US" sz="2800" dirty="0">
                <a:solidFill>
                  <a:srgbClr val="2E75B5"/>
                </a:solidFill>
                <a:latin typeface="Calibri" panose="020F0502020204030204"/>
                <a:ea typeface="Calibri" panose="020F0502020204030204"/>
                <a:cs typeface="Calibri" panose="020F0502020204030204"/>
                <a:sym typeface="Calibri" panose="020F0502020204030204"/>
              </a:rPr>
            </a:br>
            <a:endParaRPr sz="2800" dirty="0">
              <a:solidFill>
                <a:schemeClr val="lt1"/>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,Dept. of CS &amp; IT</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6"/>
          <p:cNvSpPr txBox="1">
            <a:spLocks noGrp="1"/>
          </p:cNvSpPr>
          <p:nvPr>
            <p:ph type="body" idx="1"/>
          </p:nvPr>
        </p:nvSpPr>
        <p:spPr>
          <a:xfrm>
            <a:off x="718820" y="1290955"/>
            <a:ext cx="10833735" cy="5430520"/>
          </a:xfrm>
          <a:prstGeom prst="rect">
            <a:avLst/>
          </a:prstGeom>
          <a:noFill/>
          <a:ln>
            <a:noFill/>
          </a:ln>
        </p:spPr>
        <p:txBody>
          <a:bodyPr spcFirstLastPara="1" wrap="square" lIns="91425" tIns="45700" rIns="91425" bIns="45700" anchor="t" anchorCtr="0">
            <a:normAutofit/>
          </a:bodyPr>
          <a:lstStyle/>
          <a:p>
            <a:pPr marL="285750" lvl="0" indent="-285750" algn="just"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Lavaman151. (2023). PlantifyDR Dataset. Kaggle. https://www.kaggle.com/datasets/lavaman151/plantifydr-dataset</a:t>
            </a:r>
            <a:endParaRPr lang="en-US" altLang="en-US" sz="1600" dirty="0">
              <a:latin typeface="Times New Roman" panose="02020603050405020304" charset="0"/>
              <a:cs typeface="Times New Roman" panose="02020603050405020304" charset="0"/>
            </a:endParaRPr>
          </a:p>
          <a:p>
            <a:pPr marL="285750" lvl="0" indent="-285750" algn="l"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Chollet,F.(2017).Xception:Deep Learning with Depthwise Separable Convolutions.arXiv preprint. https://arxiv.org/abs/1610.02357</a:t>
            </a:r>
            <a:endParaRPr lang="en-US" altLang="en-US" sz="1600" dirty="0">
              <a:latin typeface="Times New Roman" panose="02020603050405020304" charset="0"/>
              <a:cs typeface="Times New Roman" panose="02020603050405020304" charset="0"/>
            </a:endParaRPr>
          </a:p>
          <a:p>
            <a:pPr marL="285750" lvl="0" indent="-285750" algn="just"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Howard, A. G., et al. (2017). MobileNets: Efficient Convolutional Neural Networks for Mobile Vision Applications. arXiv. https://arxiv.org/abs/1704.04861</a:t>
            </a:r>
            <a:endParaRPr lang="en-US" altLang="en-US" sz="1600" dirty="0">
              <a:latin typeface="Times New Roman" panose="02020603050405020304" charset="0"/>
              <a:cs typeface="Times New Roman" panose="02020603050405020304" charset="0"/>
            </a:endParaRPr>
          </a:p>
          <a:p>
            <a:pPr marL="285750" lvl="0" indent="-285750" algn="just"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OpenWeatherMap. (n.d.). Weather API documentation. https://openweathermap.org/api</a:t>
            </a:r>
            <a:endParaRPr lang="en-US" altLang="en-US" sz="1600" dirty="0">
              <a:latin typeface="Times New Roman" panose="02020603050405020304" charset="0"/>
              <a:cs typeface="Times New Roman" panose="02020603050405020304" charset="0"/>
            </a:endParaRPr>
          </a:p>
          <a:p>
            <a:pPr marL="285750" lvl="0" indent="-285750" algn="l"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Google Maps API. (n.d.). Places &amp; Geolocation API for Warehousing Locator. https://developers.google.com/maps/documentation</a:t>
            </a:r>
            <a:endParaRPr lang="en-US" altLang="en-US" sz="1600" dirty="0">
              <a:latin typeface="Times New Roman" panose="02020603050405020304" charset="0"/>
              <a:cs typeface="Times New Roman" panose="02020603050405020304" charset="0"/>
            </a:endParaRPr>
          </a:p>
          <a:p>
            <a:pPr marL="285750" lvl="0" indent="-285750" algn="just"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TensorFlow/Keras Framework Documentation. https://www.tensorflow.org/</a:t>
            </a:r>
            <a:endParaRPr lang="en-US" altLang="en-US" sz="1600" dirty="0">
              <a:latin typeface="Times New Roman" panose="02020603050405020304" charset="0"/>
              <a:cs typeface="Times New Roman" panose="02020603050405020304" charset="0"/>
            </a:endParaRPr>
          </a:p>
          <a:p>
            <a:pPr marL="285750" lvl="0" indent="-285750" algn="just" rtl="0">
              <a:lnSpc>
                <a:spcPct val="90000"/>
              </a:lnSpc>
              <a:spcBef>
                <a:spcPts val="1000"/>
              </a:spcBef>
              <a:spcAft>
                <a:spcPts val="0"/>
              </a:spcAft>
              <a:buClr>
                <a:schemeClr val="dk1"/>
              </a:buClr>
              <a:buSzPct val="100000"/>
            </a:pPr>
            <a:r>
              <a:rPr lang="en-US" altLang="en-US" sz="1600" dirty="0">
                <a:latin typeface="Times New Roman" panose="02020603050405020304" charset="0"/>
                <a:cs typeface="Times New Roman" panose="02020603050405020304" charset="0"/>
              </a:rPr>
              <a:t>“ImageDataGenerator and Data Augmentation in Keras”. https://keras.io/api/preprocessing/image/</a:t>
            </a:r>
            <a:endParaRPr lang="en-US" altLang="en-US" sz="1600" dirty="0">
              <a:latin typeface="Times New Roman" panose="02020603050405020304" charset="0"/>
              <a:cs typeface="Times New Roman" panose="02020603050405020304" charset="0"/>
            </a:endParaRPr>
          </a:p>
        </p:txBody>
      </p:sp>
      <p:sp>
        <p:nvSpPr>
          <p:cNvPr id="185" name="Google Shape;18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186" name="Google Shape;186;p26"/>
          <p:cNvSpPr/>
          <p:nvPr/>
        </p:nvSpPr>
        <p:spPr>
          <a:xfrm>
            <a:off x="451163" y="471375"/>
            <a:ext cx="11520000" cy="720000"/>
          </a:xfrm>
          <a:prstGeom prst="roundRect">
            <a:avLst>
              <a:gd name="adj" fmla="val 16667"/>
            </a:avLst>
          </a:prstGeom>
          <a:solidFill>
            <a:srgbClr val="BBD6EE"/>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dirty="0">
                <a:solidFill>
                  <a:srgbClr val="2E75B5"/>
                </a:solidFill>
                <a:latin typeface="Calibri" panose="020F0502020204030204"/>
                <a:ea typeface="Calibri" panose="020F0502020204030204"/>
                <a:cs typeface="Calibri" panose="020F0502020204030204"/>
                <a:sym typeface="Calibri" panose="020F0502020204030204"/>
              </a:rPr>
              <a:t>	Bibliography</a:t>
            </a:r>
            <a:endParaRPr sz="2800" dirty="0">
              <a:solidFill>
                <a:srgbClr val="2E75B5"/>
              </a:solidFill>
              <a:latin typeface="Calibri" panose="020F0502020204030204"/>
              <a:ea typeface="Calibri" panose="020F0502020204030204"/>
              <a:cs typeface="Calibri" panose="020F0502020204030204"/>
              <a:sym typeface="Calibri" panose="020F0502020204030204"/>
            </a:endParaRPr>
          </a:p>
        </p:txBody>
      </p:sp>
      <p:pic>
        <p:nvPicPr>
          <p:cNvPr id="2" name="Google Shape;92;p13"/>
          <p:cNvPicPr preferRelativeResize="0"/>
          <p:nvPr/>
        </p:nvPicPr>
        <p:blipFill rotWithShape="1">
          <a:blip r:embed="rId1"/>
          <a:srcRect/>
          <a:stretch>
            <a:fillRect/>
          </a:stretch>
        </p:blipFill>
        <p:spPr>
          <a:xfrm>
            <a:off x="591671" y="539948"/>
            <a:ext cx="540000" cy="540000"/>
          </a:xfrm>
          <a:prstGeom prst="rect">
            <a:avLst/>
          </a:prstGeom>
          <a:noFill/>
          <a:ln>
            <a:noFill/>
          </a:ln>
        </p:spPr>
      </p:pic>
      <p:sp>
        <p:nvSpPr>
          <p:cNvPr id="3" name="Footer Placeholder 2"/>
          <p:cNvSpPr>
            <a:spLocks noGrp="1"/>
          </p:cNvSpPr>
          <p:nvPr>
            <p:ph type="ftr" idx="11"/>
          </p:nvPr>
        </p:nvSpPr>
        <p:spPr/>
        <p:txBody>
          <a:bodyPr/>
          <a:lstStyle/>
          <a:p>
            <a:r>
              <a:rPr lang="en-IN" dirty="0"/>
              <a:t>Mid-Term SDP , Dept. of CS &amp; IT</a:t>
            </a:r>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7"/>
          <p:cNvSpPr txBox="1">
            <a:spLocks noGrp="1"/>
          </p:cNvSpPr>
          <p:nvPr>
            <p:ph type="body" idx="1"/>
          </p:nvPr>
        </p:nvSpPr>
        <p:spPr>
          <a:xfrm>
            <a:off x="838200" y="1317624"/>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800"/>
              <a:buNone/>
            </a:pPr>
            <a:endParaRPr b="1" dirty="0">
              <a:solidFill>
                <a:srgbClr val="F7CAAC"/>
              </a:solidFill>
            </a:endParaRPr>
          </a:p>
          <a:p>
            <a:pPr marL="0" lvl="0" indent="0" algn="ctr" rtl="0">
              <a:lnSpc>
                <a:spcPct val="90000"/>
              </a:lnSpc>
              <a:spcBef>
                <a:spcPts val="1000"/>
              </a:spcBef>
              <a:spcAft>
                <a:spcPts val="0"/>
              </a:spcAft>
              <a:buClr>
                <a:srgbClr val="F7CAAC"/>
              </a:buClr>
              <a:buSzPts val="16600"/>
              <a:buNone/>
            </a:pPr>
            <a:r>
              <a:rPr lang="en-US" sz="16600" b="1" dirty="0">
                <a:solidFill>
                  <a:srgbClr val="F7CAAC"/>
                </a:solidFill>
              </a:rPr>
              <a:t>Thank You!</a:t>
            </a:r>
            <a:endParaRPr b="1" dirty="0">
              <a:solidFill>
                <a:srgbClr val="F7CAAC"/>
              </a:solidFill>
            </a:endParaRPr>
          </a:p>
        </p:txBody>
      </p:sp>
      <p:sp>
        <p:nvSpPr>
          <p:cNvPr id="192" name="Google Shape;19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 name="Footer Placeholder 1"/>
          <p:cNvSpPr>
            <a:spLocks noGrp="1"/>
          </p:cNvSpPr>
          <p:nvPr>
            <p:ph type="ftr" idx="11"/>
          </p:nvPr>
        </p:nvSpPr>
        <p:spPr/>
        <p:txBody>
          <a:bodyPr/>
          <a:lstStyle/>
          <a:p>
            <a:r>
              <a:rPr lang="en-IN" dirty="0"/>
              <a:t>Mid-Term SDP , Dept. of CS &amp; IT</a:t>
            </a:r>
            <a:endParaRPr lang="en-IN" dirty="0"/>
          </a:p>
        </p:txBody>
      </p:sp>
    </p:spTree>
  </p:cSld>
  <p:clrMapOvr>
    <a:masterClrMapping/>
  </p:clrMapOvr>
</p:sld>
</file>

<file path=ppt/tags/tag1.xml><?xml version="1.0" encoding="utf-8"?>
<p:tagLst xmlns:p="http://schemas.openxmlformats.org/presentationml/2006/main">
  <p:tag name="TABLE_ENDDRAG_ORIGIN_RECT" val="893*308"/>
  <p:tag name="TABLE_ENDDRAG_RECT" val="35*142*893*308"/>
</p:tagLst>
</file>

<file path=ppt/tags/tag2.xml><?xml version="1.0" encoding="utf-8"?>
<p:tagLst xmlns:p="http://schemas.openxmlformats.org/presentationml/2006/main">
  <p:tag name="TABLE_ENDDRAG_ORIGIN_RECT" val="895*476"/>
  <p:tag name="TABLE_ENDDRAG_RECT" val="27*23*895*476"/>
</p:tagLst>
</file>

<file path=ppt/tags/tag3.xml><?xml version="1.0" encoding="utf-8"?>
<p:tagLst xmlns:p="http://schemas.openxmlformats.org/presentationml/2006/main">
  <p:tag name="TABLE_ENDDRAG_ORIGIN_RECT" val="874*252"/>
  <p:tag name="TABLE_ENDDRAG_RECT" val="50*115*874*252"/>
</p:tagLst>
</file>

<file path=ppt/tags/tag4.xml><?xml version="1.0" encoding="utf-8"?>
<p:tagLst xmlns:p="http://schemas.openxmlformats.org/presentationml/2006/main">
  <p:tag name="TABLE_ENDDRAG_ORIGIN_RECT" val="874*43"/>
  <p:tag name="TABLE_ENDDRAG_RECT" val="36*439*874*43"/>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13739</Words>
  <Application>WPS Presentation</Application>
  <PresentationFormat>Widescreen</PresentationFormat>
  <Paragraphs>502</Paragraphs>
  <Slides>22</Slides>
  <Notes>12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vt:i4>
      </vt:variant>
    </vt:vector>
  </HeadingPairs>
  <TitlesOfParts>
    <vt:vector size="38" baseType="lpstr">
      <vt:lpstr>Arial</vt:lpstr>
      <vt:lpstr>SimSun</vt:lpstr>
      <vt:lpstr>Wingdings</vt:lpstr>
      <vt:lpstr>Arial</vt:lpstr>
      <vt:lpstr>Calibri</vt:lpstr>
      <vt:lpstr>Noto Sans Symbols</vt:lpstr>
      <vt:lpstr>Segoe Print</vt:lpstr>
      <vt:lpstr>Times New Roman</vt:lpstr>
      <vt:lpstr>Wingdings</vt:lpstr>
      <vt:lpstr>Calibri</vt:lpstr>
      <vt:lpstr>Microsoft YaHei</vt:lpstr>
      <vt:lpstr>Arial Unicode MS</vt:lpstr>
      <vt:lpstr>Times New Roman</vt:lpstr>
      <vt:lpstr>Roboto</vt:lpstr>
      <vt:lpstr>Gill Sans</vt:lpstr>
      <vt:lpstr>Office Theme</vt:lpstr>
      <vt:lpstr>PowerPoint 演示文稿</vt:lpstr>
      <vt:lpstr>PowerPoint 演示文稿</vt:lpstr>
      <vt:lpstr>PowerPoint 演示文稿</vt:lpstr>
      <vt:lpstr>PowerPoint 演示文稿</vt:lpstr>
      <vt:lpstr>PowerPoint 演示文稿</vt:lpstr>
      <vt:lpstr>PowerPoint 演示文稿</vt:lpstr>
      <vt:lpstr>   Problem Identification</vt:lpstr>
      <vt:lpstr>  Dataset Description </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narayan patra</dc:creator>
  <cp:lastModifiedBy>Mayank K</cp:lastModifiedBy>
  <cp:revision>325</cp:revision>
  <dcterms:created xsi:type="dcterms:W3CDTF">2025-05-23T18:54:00Z</dcterms:created>
  <dcterms:modified xsi:type="dcterms:W3CDTF">2025-06-11T04:31:55Z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9A3C3B4FF4CD40D69C57E68253D7E543_13</vt:lpwstr>
  </property>
  <property fmtid="{D5CDD505-2E9C-101B-9397-08002B2CF9AE}" pid="3" name="KSOProductBuildVer">
    <vt:lpwstr>2057-12.2.0.21183</vt:lpwstr>
  </property>
</Properties>
</file>